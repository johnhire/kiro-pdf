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15"/>
  </p:notesMasterIdLst>
  <p:sldIdLst>
    <p:sldId id="256" r:id="rId5"/>
    <p:sldId id="270" r:id="rId6"/>
    <p:sldId id="2147483640" r:id="rId7"/>
    <p:sldId id="2147483642" r:id="rId8"/>
    <p:sldId id="2147483644" r:id="rId9"/>
    <p:sldId id="2147483643" r:id="rId10"/>
    <p:sldId id="2147483645" r:id="rId11"/>
    <p:sldId id="2147483646" r:id="rId12"/>
    <p:sldId id="2147483647" r:id="rId13"/>
    <p:sldId id="214748363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02E959-144A-48F2-9E36-10D307B61523}">
          <p14:sldIdLst>
            <p14:sldId id="256"/>
            <p14:sldId id="270"/>
            <p14:sldId id="2147483640"/>
            <p14:sldId id="2147483642"/>
            <p14:sldId id="2147483644"/>
            <p14:sldId id="2147483643"/>
            <p14:sldId id="2147483645"/>
            <p14:sldId id="2147483646"/>
            <p14:sldId id="2147483647"/>
            <p14:sldId id="21474836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9170617-30EE-17B3-6E40-1CE4ECD60A9A}" name="Mor, Kyla (EHS)" initials="MK" userId="S::kyla.mor@mass.gov::c64c4427-ce6d-410d-b15e-9e6c0e6da7f0" providerId="AD"/>
  <p188:author id="{758006CB-9F0A-0159-1280-10F608B65395}" name="Brown, Maura B (EHS)" initials="MB" userId="S::Maura.B.Brown@mass.gov::efb52370-babc-4a45-8d1a-c3c99e0985c4" providerId="AD"/>
  <p188:author id="{DB208FD8-144A-0E3D-0830-BD7DBCF9E4E7}" name="Mor, Kyla (EHS)" initials="KM" userId="S::Kyla.Mor@mass.gov::c64c4427-ce6d-410d-b15e-9e6c0e6da7f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6969"/>
    <a:srgbClr val="092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105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4723B-46BC-473E-9E7D-EF21D333958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96B86-A8E2-4C09-BC19-F217575BE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09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0FCE4-25AE-6E35-4F48-2061440AC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21BB7-D527-2848-70DA-A1CA8774B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B29B26-9C98-7845-DF51-BB4149050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4463C-21BF-79F8-A608-B48F26A17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96B86-A8E2-4C09-BC19-F217575BE6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39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E37DA-8B86-38F0-5882-1EED1A7FF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206212-E444-6DBC-1494-1E353059A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F83CF-2210-D8F6-66A0-2645D6F83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The backend features restful web services to maintain document templates and documents generated from these templates.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These have accumulated significant technical debt.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Objective: </a:t>
            </a:r>
            <a:r>
              <a:rPr lang="en-US" sz="2400" dirty="0">
                <a:solidFill>
                  <a:srgbClr val="000000"/>
                </a:solidFill>
              </a:rPr>
              <a:t>Can an AI-driven IDEs like Kiro produce readable, usable, bug-free code throughout the entire SDLC?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 AI Period 4Find out if Kiro can: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Ease our maintenance burden for existing catalog of applications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Speed up software development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Help us with upgrades, vulnerability remediation and new feature development.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2B017-5650-4735-F324-E8F9C3FD23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96B86-A8E2-4C09-BC19-F217575BE6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237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A4E12-871A-7EA1-4741-3ACC178B0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21A71-7325-8384-7427-A57B51365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B6127-3199-7557-5849-1C0DB0F77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757EB-2681-B658-9AED-0EBB98DFD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96B86-A8E2-4C09-BC19-F217575BE6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43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86C5B-6552-EAE4-4196-5A5F5B2A9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4B748-B956-6367-9D72-BF1BC4F7F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84ACE-31D9-DD71-F3EF-270095C87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C3824-EEE3-7D41-A3E5-7B8082F7A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96B86-A8E2-4C09-BC19-F217575BE6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632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E1EEB-CABF-4E63-C310-F63483B75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C02B2-9E06-A563-A6B2-7CE0E94A1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CCF3E-B129-79CD-3AD9-181991168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050B9-6971-669A-F33A-CBC0E711C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96B86-A8E2-4C09-BC19-F217575BE6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07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812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217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74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816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74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47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07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78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3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4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90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327921-899C-1548-1446-08625D95D8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480" y="0"/>
            <a:ext cx="12252960" cy="3459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397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25880"/>
            <a:ext cx="5181600" cy="48510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25880"/>
            <a:ext cx="5181600" cy="48510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255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30397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27885"/>
            <a:ext cx="5157787" cy="39300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30397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127885"/>
            <a:ext cx="5183188" cy="39300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98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631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4451"/>
            <a:ext cx="6172200" cy="45466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314450"/>
            <a:ext cx="3932237" cy="4554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90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00151"/>
            <a:ext cx="6172200" cy="466090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208088"/>
            <a:ext cx="3932237" cy="46609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590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EA0C131-F293-4EB9-A0BD-D856FA5E5E02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260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1900" b="1" i="0" baseline="0">
              <a:latin typeface="Arial"/>
              <a:ea typeface="+mj-ea"/>
              <a:cs typeface="Arial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12800" y="1143001"/>
            <a:ext cx="10566400" cy="1200329"/>
          </a:xfrm>
        </p:spPr>
        <p:txBody>
          <a:bodyPr wrap="square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36126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Object 2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8" name="Object 2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1900" b="1" i="0" baseline="0">
              <a:latin typeface="Arial"/>
              <a:ea typeface="+mj-ea"/>
              <a:cs typeface="Arial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648" y="237744"/>
            <a:ext cx="11655552" cy="2923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371600"/>
            <a:ext cx="231648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04800" y="2565400"/>
            <a:ext cx="231648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304800" y="3759200"/>
            <a:ext cx="231648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4953000"/>
            <a:ext cx="2316480" cy="990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defRPr baseline="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14" hasCustomPrompt="1"/>
          </p:nvPr>
        </p:nvSpPr>
        <p:spPr>
          <a:xfrm>
            <a:off x="3048000" y="944434"/>
            <a:ext cx="1009251" cy="338554"/>
          </a:xfrm>
        </p:spPr>
        <p:txBody>
          <a:bodyPr wrap="square" lIns="91440" tIns="45720" rIns="91440" bIns="45720" anchor="t" anchorCtr="0"/>
          <a:lstStyle>
            <a:lvl1pPr>
              <a:defRPr baseline="0"/>
            </a:lvl1pPr>
          </a:lstStyle>
          <a:p>
            <a:pPr lvl="0"/>
            <a:r>
              <a:rPr lang="en-US"/>
              <a:t>Item 1</a:t>
            </a:r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6248400" y="944434"/>
            <a:ext cx="1009251" cy="338554"/>
          </a:xfrm>
        </p:spPr>
        <p:txBody>
          <a:bodyPr wrap="square" lIns="91440" tIns="45720" rIns="91440" bIns="45720" anchor="t" anchorCtr="0"/>
          <a:lstStyle>
            <a:lvl1pPr>
              <a:defRPr baseline="0"/>
            </a:lvl1pPr>
          </a:lstStyle>
          <a:p>
            <a:pPr lvl="0"/>
            <a:r>
              <a:rPr lang="en-US"/>
              <a:t>Item 2</a:t>
            </a:r>
          </a:p>
        </p:txBody>
      </p:sp>
      <p:sp>
        <p:nvSpPr>
          <p:cNvPr id="27" name="Text Placeholder 23"/>
          <p:cNvSpPr>
            <a:spLocks noGrp="1"/>
          </p:cNvSpPr>
          <p:nvPr>
            <p:ph type="body" sz="quarter" idx="16" hasCustomPrompt="1"/>
          </p:nvPr>
        </p:nvSpPr>
        <p:spPr>
          <a:xfrm>
            <a:off x="9448800" y="944434"/>
            <a:ext cx="1009251" cy="338554"/>
          </a:xfrm>
        </p:spPr>
        <p:txBody>
          <a:bodyPr wrap="square" lIns="91440" tIns="45720" rIns="91440" bIns="45720" anchor="t" anchorCtr="0"/>
          <a:lstStyle>
            <a:lvl1pPr>
              <a:defRPr baseline="0"/>
            </a:lvl1pPr>
          </a:lstStyle>
          <a:p>
            <a:pPr lvl="0"/>
            <a:r>
              <a:rPr lang="en-US"/>
              <a:t>Item 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3454400" y="1752601"/>
            <a:ext cx="3869008" cy="1323439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64061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6348642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1900" b="1" i="0" baseline="0">
              <a:latin typeface="Arial"/>
              <a:ea typeface="+mj-ea"/>
              <a:cs typeface="Arial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812800" y="1143001"/>
            <a:ext cx="10566400" cy="1200329"/>
          </a:xfrm>
        </p:spPr>
        <p:txBody>
          <a:bodyPr wrap="square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361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42698-0C12-47E7-AC88-43BAE3C03F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0FC5AF-6659-B8B7-0BF2-AE4C3A846C18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76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16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64" r:id="rId13"/>
    <p:sldLayoutId id="2147483665" r:id="rId14"/>
    <p:sldLayoutId id="2147483666" r:id="rId15"/>
    <p:sldLayoutId id="2147483668" r:id="rId16"/>
    <p:sldLayoutId id="2147483669" r:id="rId17"/>
    <p:sldLayoutId id="2147483670" r:id="rId18"/>
    <p:sldLayoutId id="2147483711" r:id="rId19"/>
    <p:sldLayoutId id="2147483712" r:id="rId20"/>
    <p:sldLayoutId id="2147483687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39A6185-02FA-4B04-BC2F-BACB697BDB42}"/>
              </a:ext>
            </a:extLst>
          </p:cNvPr>
          <p:cNvSpPr txBox="1">
            <a:spLocks/>
          </p:cNvSpPr>
          <p:nvPr/>
        </p:nvSpPr>
        <p:spPr>
          <a:xfrm>
            <a:off x="3577947" y="4112272"/>
            <a:ext cx="5803014" cy="2113987"/>
          </a:xfrm>
          <a:prstGeom prst="rect">
            <a:avLst/>
          </a:prstGeo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92F6D"/>
                </a:solidFill>
                <a:latin typeface="+mn-lt"/>
              </a:rPr>
              <a:t>EOHHS AI Pilot Program Phase 4</a:t>
            </a:r>
          </a:p>
          <a:p>
            <a:pPr algn="ctr"/>
            <a:r>
              <a:rPr lang="en-US" sz="4000" b="1" dirty="0">
                <a:solidFill>
                  <a:srgbClr val="092F6D"/>
                </a:solidFill>
                <a:latin typeface="+mn-lt"/>
              </a:rPr>
              <a:t>AI Software Development Using AWS Kiro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3772F72-FA95-43E4-9237-6504D7720FA7}"/>
              </a:ext>
            </a:extLst>
          </p:cNvPr>
          <p:cNvSpPr txBox="1">
            <a:spLocks/>
          </p:cNvSpPr>
          <p:nvPr/>
        </p:nvSpPr>
        <p:spPr>
          <a:xfrm>
            <a:off x="6469924" y="5795572"/>
            <a:ext cx="5223510" cy="835024"/>
          </a:xfrm>
          <a:prstGeom prst="rect">
            <a:avLst/>
          </a:prstGeo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dirty="0">
                <a:solidFill>
                  <a:srgbClr val="092F6D"/>
                </a:solidFill>
                <a:latin typeface="+mn-lt"/>
              </a:rPr>
              <a:t>2026-06-11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355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DEF31-B403-8057-227E-50E15E70F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5B603F-88F2-82E5-BF16-5967EE44D7D1}"/>
              </a:ext>
            </a:extLst>
          </p:cNvPr>
          <p:cNvSpPr txBox="1"/>
          <p:nvPr/>
        </p:nvSpPr>
        <p:spPr>
          <a:xfrm>
            <a:off x="408373" y="1202923"/>
            <a:ext cx="107242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Team/Role:</a:t>
            </a:r>
          </a:p>
          <a:p>
            <a:endParaRPr lang="en-US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b="1" dirty="0"/>
              <a:t>John Hogan:</a:t>
            </a:r>
            <a:r>
              <a:rPr lang="en-US" sz="3600" dirty="0"/>
              <a:t>  </a:t>
            </a:r>
          </a:p>
          <a:p>
            <a:pPr lvl="2"/>
            <a:r>
              <a:rPr lang="en-US" sz="3600" dirty="0"/>
              <a:t>Architect EHS-Enterprise Architecture Team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b="1" dirty="0"/>
              <a:t>Anand Geetey: </a:t>
            </a:r>
            <a:r>
              <a:rPr lang="en-US" sz="3600" dirty="0"/>
              <a:t> </a:t>
            </a:r>
          </a:p>
          <a:p>
            <a:pPr lvl="2"/>
            <a:r>
              <a:rPr lang="en-US" sz="3600" dirty="0"/>
              <a:t>Architect EHS-Enterprise Architecture Team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E0721B9-A04E-1371-1956-68914BE21825}"/>
              </a:ext>
            </a:extLst>
          </p:cNvPr>
          <p:cNvSpPr txBox="1">
            <a:spLocks/>
          </p:cNvSpPr>
          <p:nvPr/>
        </p:nvSpPr>
        <p:spPr>
          <a:xfrm>
            <a:off x="398231" y="-2958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  <a:latin typeface="+mn-lt"/>
              </a:rPr>
              <a:t>AI Powered Software Development Using AWS Kiro</a:t>
            </a:r>
          </a:p>
        </p:txBody>
      </p:sp>
    </p:spTree>
    <p:extLst>
      <p:ext uri="{BB962C8B-B14F-4D97-AF65-F5344CB8AC3E}">
        <p14:creationId xmlns:p14="http://schemas.microsoft.com/office/powerpoint/2010/main" val="369751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CDC7E-1CA1-C81C-C47F-D1346B005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329AE-2A8E-1140-0C26-24BFA4490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95" y="-24254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+mn-lt"/>
              </a:rPr>
              <a:t>Problem &amp; Motivation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6CDFC3-737D-B37D-1CD1-7F5B4AB480F0}"/>
              </a:ext>
            </a:extLst>
          </p:cNvPr>
          <p:cNvSpPr txBox="1"/>
          <p:nvPr/>
        </p:nvSpPr>
        <p:spPr>
          <a:xfrm>
            <a:off x="390618" y="945470"/>
            <a:ext cx="11292396" cy="5301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Problem</a:t>
            </a:r>
            <a:endParaRPr lang="en-US" sz="3200" dirty="0"/>
          </a:p>
          <a:p>
            <a:pPr lvl="1"/>
            <a:endParaRPr lang="en-US" sz="10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Traditional software development is slow, expensive and error prone.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EOHHS has 10s or 100s of apps representing a significant maintenance burden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dirty="0"/>
              <a:t>version upgrades, 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dirty="0"/>
              <a:t>security vulnerabilities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dirty="0"/>
              <a:t>New apps and features</a:t>
            </a:r>
            <a:endParaRPr lang="en-US" sz="2400" dirty="0"/>
          </a:p>
          <a:p>
            <a:pPr lvl="1"/>
            <a:endParaRPr lang="en-US" sz="1050" dirty="0"/>
          </a:p>
          <a:p>
            <a:r>
              <a:rPr lang="en-US" sz="3200" b="1" dirty="0"/>
              <a:t>Motivation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Leverage the EOHHS AI Pilot Phase 4 to determine how AI tools like Kiro might help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dirty="0"/>
              <a:t>AI Period 4 - Workstream Item:  </a:t>
            </a:r>
            <a:r>
              <a:rPr lang="en-US" b="1" dirty="0">
                <a:highlight>
                  <a:srgbClr val="00FF00"/>
                </a:highlight>
              </a:rPr>
              <a:t>AI-Powered Coding Environments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dirty="0"/>
              <a:t>We asked to participate in this workstream and selected AWS’s new Kiro IDE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dirty="0"/>
              <a:t>Would evaluate Kiro doing a fictitious project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dirty="0"/>
              <a:t>A generic PDF doc generation microservices project.  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dirty="0"/>
              <a:t>A pdf manager </a:t>
            </a:r>
            <a:r>
              <a:rPr lang="en-US" b="1" dirty="0"/>
              <a:t>backend</a:t>
            </a:r>
            <a:r>
              <a:rPr lang="en-US" dirty="0"/>
              <a:t> pdf manager (</a:t>
            </a:r>
            <a:r>
              <a:rPr lang="en-US" dirty="0" err="1"/>
              <a:t>pdfMan</a:t>
            </a:r>
            <a:r>
              <a:rPr lang="en-US" dirty="0"/>
              <a:t>) and pdf administrator (PdfAdministrator) user interface.  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14681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EA33C6-C814-0989-44AA-59340FCB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95" y="-242546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Generic PDF doc gen (</a:t>
            </a:r>
            <a:r>
              <a:rPr lang="en-US" sz="2800" b="1" dirty="0" err="1">
                <a:solidFill>
                  <a:schemeClr val="bg1"/>
                </a:solidFill>
              </a:rPr>
              <a:t>pdfMan</a:t>
            </a:r>
            <a:r>
              <a:rPr lang="en-US" sz="2800" b="1" dirty="0">
                <a:solidFill>
                  <a:schemeClr val="bg1"/>
                </a:solidFill>
              </a:rPr>
              <a:t> and PdfAdministrator)</a:t>
            </a:r>
            <a:endParaRPr lang="en-US" sz="2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73D0C4-4623-DBBA-165A-70CE2C5BC078}"/>
              </a:ext>
            </a:extLst>
          </p:cNvPr>
          <p:cNvSpPr txBox="1">
            <a:spLocks/>
          </p:cNvSpPr>
          <p:nvPr/>
        </p:nvSpPr>
        <p:spPr>
          <a:xfrm>
            <a:off x="754817" y="228907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bg1"/>
                </a:solidFill>
                <a:latin typeface="+mn-lt"/>
              </a:rPr>
              <a:t>AI Powered Software Development Using AWS Kiro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D1445D-C884-2200-898C-09EB10EAD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396" y="815885"/>
            <a:ext cx="8100147" cy="596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82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2A6E1-CD97-9EED-7ACB-5C3C50850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31A883E-48C5-5CD7-B737-8BE494BFF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95" y="-242546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Backend Deep Dive (</a:t>
            </a:r>
            <a:r>
              <a:rPr lang="en-US" sz="2800" b="1" dirty="0" err="1">
                <a:solidFill>
                  <a:schemeClr val="bg1"/>
                </a:solidFill>
              </a:rPr>
              <a:t>pdfMan</a:t>
            </a:r>
            <a:r>
              <a:rPr lang="en-US" sz="2800" b="1" dirty="0">
                <a:solidFill>
                  <a:schemeClr val="bg1"/>
                </a:solidFill>
              </a:rPr>
              <a:t>)</a:t>
            </a:r>
            <a:endParaRPr lang="en-US" sz="2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EABEF4-C4AD-13B1-5C66-32BC687904BB}"/>
              </a:ext>
            </a:extLst>
          </p:cNvPr>
          <p:cNvSpPr txBox="1"/>
          <p:nvPr/>
        </p:nvSpPr>
        <p:spPr>
          <a:xfrm>
            <a:off x="390618" y="945470"/>
            <a:ext cx="11292396" cy="5516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Tech stack info</a:t>
            </a:r>
            <a:endParaRPr lang="en-US" sz="3200" dirty="0"/>
          </a:p>
          <a:p>
            <a:pPr lvl="1"/>
            <a:endParaRPr lang="en-US" sz="10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dirty="0" err="1"/>
              <a:t>pdfMan</a:t>
            </a:r>
            <a:r>
              <a:rPr lang="en-US" sz="2400" dirty="0"/>
              <a:t> tech stack features include: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b="1" dirty="0"/>
              <a:t>Templates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dirty="0"/>
              <a:t>5 restful/</a:t>
            </a:r>
            <a:r>
              <a:rPr lang="en-US" dirty="0" err="1"/>
              <a:t>jax-rs</a:t>
            </a:r>
            <a:r>
              <a:rPr lang="en-US" dirty="0"/>
              <a:t> web services for maintaining templates (crud and list)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dirty="0"/>
              <a:t>CRUD services for pdf templates and pdf document generation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dirty="0"/>
              <a:t>Document templates used to create new documents are defined using JSON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dirty="0"/>
              <a:t>New JSON templates trigger generation of a corresponding html templates for web form and pdf formatting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dirty="0"/>
              <a:t>Rest resources have CDI service beans to manipulate data access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dirty="0"/>
              <a:t>Hibernate/JPA components for persistence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dirty="0"/>
              <a:t>Postgres database</a:t>
            </a:r>
          </a:p>
          <a:p>
            <a:pPr lvl="1"/>
            <a:endParaRPr lang="en-US" sz="1050" dirty="0"/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b="1" dirty="0"/>
              <a:t>Documents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dirty="0"/>
              <a:t>5  restful/</a:t>
            </a:r>
            <a:r>
              <a:rPr lang="en-US" dirty="0" err="1"/>
              <a:t>jax-rs</a:t>
            </a:r>
            <a:r>
              <a:rPr lang="en-US" dirty="0"/>
              <a:t> web services for maintaining templates (crud and list)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dirty="0"/>
              <a:t>CRUD services for pdf documents generation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dirty="0"/>
              <a:t>Document meta data use to create new documents, JSON stored in db.  Allows docs to be edited and pdf regenerated.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65674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859467-D7A0-9FDB-B725-A80B0E4A7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95" y="-242546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User Interface Deep Dive (</a:t>
            </a:r>
            <a:r>
              <a:rPr lang="en-US" sz="2800" b="1" dirty="0" err="1">
                <a:solidFill>
                  <a:schemeClr val="bg1"/>
                </a:solidFill>
              </a:rPr>
              <a:t>pdfAdministrator</a:t>
            </a:r>
            <a:r>
              <a:rPr lang="en-US" sz="2800" b="1" dirty="0">
                <a:solidFill>
                  <a:schemeClr val="bg1"/>
                </a:solidFill>
              </a:rPr>
              <a:t>)</a:t>
            </a:r>
            <a:endParaRPr lang="en-US" sz="2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2DB8CF-B1FE-A5C6-F491-CC62253B0E6D}"/>
              </a:ext>
            </a:extLst>
          </p:cNvPr>
          <p:cNvSpPr txBox="1"/>
          <p:nvPr/>
        </p:nvSpPr>
        <p:spPr>
          <a:xfrm>
            <a:off x="390618" y="945470"/>
            <a:ext cx="11292396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Tech stack info</a:t>
            </a:r>
            <a:endParaRPr lang="en-US" sz="3600" dirty="0"/>
          </a:p>
          <a:p>
            <a:pPr lvl="1"/>
            <a:endParaRPr lang="en-US" sz="10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dirty="0" err="1"/>
              <a:t>pdfAdministrator</a:t>
            </a:r>
            <a:r>
              <a:rPr lang="en-US" sz="2400" dirty="0"/>
              <a:t> tech stack features include: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sz="2800" b="1" dirty="0"/>
              <a:t>Templates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sz="2400" dirty="0"/>
              <a:t>Java Server Faces (JSF) user interface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sz="2400" dirty="0" err="1"/>
              <a:t>Primefaces</a:t>
            </a:r>
            <a:r>
              <a:rPr lang="en-US" sz="2400" dirty="0"/>
              <a:t> JSF implementation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sz="2400" dirty="0"/>
              <a:t>Incorporates EOHHS design for user interface guidelines for web pages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sz="2800" b="1" dirty="0"/>
              <a:t>Documents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sz="2400" dirty="0"/>
              <a:t>Java Server Faces (JSF) user interface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sz="2400" dirty="0" err="1"/>
              <a:t>Primefaces</a:t>
            </a:r>
            <a:r>
              <a:rPr lang="en-US" sz="2400" dirty="0"/>
              <a:t> JSF implementation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sz="2400" dirty="0"/>
              <a:t>Incorporates EOHHS design for user interface guidelines for web pages and generated pdf files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sz="2400" dirty="0"/>
              <a:t>Writes pdf to file system or AWS S3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sz="2400" dirty="0"/>
              <a:t>Stores document meta data to </a:t>
            </a:r>
            <a:r>
              <a:rPr lang="en-US" sz="2400" dirty="0" err="1"/>
              <a:t>Postres</a:t>
            </a:r>
            <a:r>
              <a:rPr lang="en-US" sz="2400" dirty="0"/>
              <a:t> Db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3030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2AE3D-6FFC-2BD3-47E2-F59610C0E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4AC9-D500-6D49-1E1A-919F4E4D6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95" y="-24254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Design 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8CBBE3-AEF5-09FC-8FF5-86BF751BD37A}"/>
              </a:ext>
            </a:extLst>
          </p:cNvPr>
          <p:cNvSpPr txBox="1"/>
          <p:nvPr/>
        </p:nvSpPr>
        <p:spPr>
          <a:xfrm>
            <a:off x="390618" y="945470"/>
            <a:ext cx="11292396" cy="38533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/>
              <a:t>We started with discussing and drawing the workflows.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 sz="2400" dirty="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/>
              <a:t>For the UI elements. This provides us plenty of accessible UI components and patterns that are responsive to the users’ screen size.</a:t>
            </a:r>
            <a:endParaRPr lang="en-US" sz="24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 sz="24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/>
              <a:t>Following Massachusetts Design guidelines helps us to create a scalable system that can be quickly customized to meet different project needs.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 sz="2400" dirty="0">
              <a:ea typeface="Calibri"/>
              <a:cs typeface="Calibri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ea typeface="Calibri"/>
                <a:cs typeface="Calibri"/>
              </a:rPr>
              <a:t>Exploring Kiro’s Advice Markdown files to create generic reusable style templates.</a:t>
            </a:r>
          </a:p>
        </p:txBody>
      </p:sp>
    </p:spTree>
    <p:extLst>
      <p:ext uri="{BB962C8B-B14F-4D97-AF65-F5344CB8AC3E}">
        <p14:creationId xmlns:p14="http://schemas.microsoft.com/office/powerpoint/2010/main" val="2183936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F0E75-BEAE-FDA5-6BD7-21F0A8AFA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7165E-2A1D-93D5-449D-AA9912FD9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95" y="-24254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Progress so far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A55476-6417-E955-85A0-A011F5407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18" y="1517515"/>
            <a:ext cx="5972329" cy="25681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20FA04-268F-4546-8CDF-D9A7A8541F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3371" y="1517515"/>
            <a:ext cx="4275194" cy="52237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F03D5DC-42E9-9650-85B3-E8BCA5522CA7}"/>
              </a:ext>
            </a:extLst>
          </p:cNvPr>
          <p:cNvSpPr txBox="1"/>
          <p:nvPr/>
        </p:nvSpPr>
        <p:spPr>
          <a:xfrm>
            <a:off x="390618" y="945470"/>
            <a:ext cx="1129239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/>
              <a:t>Templates Page (before v/s after)</a:t>
            </a: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8648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8970F-29E1-102C-4F32-B0632C2D3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FB425-3189-9496-EE55-6F96BF86C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295" y="-24254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Progress so far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A90FCC-2F5D-8F5D-1419-BF98C6D59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32" y="1606431"/>
            <a:ext cx="5634963" cy="48383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D614BF-891B-1A1A-EA26-D15D5C91B1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06431"/>
            <a:ext cx="5791819" cy="45565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0899CE-E04D-EA0E-A2CC-513A3D1171E4}"/>
              </a:ext>
            </a:extLst>
          </p:cNvPr>
          <p:cNvSpPr txBox="1"/>
          <p:nvPr/>
        </p:nvSpPr>
        <p:spPr>
          <a:xfrm>
            <a:off x="390618" y="945470"/>
            <a:ext cx="1129239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dirty="0"/>
              <a:t>Create Template Page (before v/s after)</a:t>
            </a: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6045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D9B1F-C496-5F0F-412F-7657A2E35CE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18823" y="2766218"/>
            <a:ext cx="9754354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b="1">
                <a:latin typeface="+mn-lt"/>
              </a:rPr>
              <a:t>Thank you!  </a:t>
            </a:r>
            <a:br>
              <a:rPr lang="en-US" sz="6600" b="1">
                <a:latin typeface="+mn-lt"/>
              </a:rPr>
            </a:br>
            <a:r>
              <a:rPr lang="en-US" sz="6600" b="1">
                <a:latin typeface="+mn-lt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90271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F_gv.pZbm2Rgq6p__oA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blEEfJJRA3Z_qO1pXby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F_gv.pZbm2Rgq6p__oAQ"/>
</p:tagLst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F057FC68AFD74FBB050BF9A24A083F" ma:contentTypeVersion="22" ma:contentTypeDescription="Create a new document." ma:contentTypeScope="" ma:versionID="2c02e7e5245c5b6f03180a50d5a6552e">
  <xsd:schema xmlns:xsd="http://www.w3.org/2001/XMLSchema" xmlns:xs="http://www.w3.org/2001/XMLSchema" xmlns:p="http://schemas.microsoft.com/office/2006/metadata/properties" xmlns:ns2="3bf83135-4203-4769-b93c-639af2b361b8" xmlns:ns3="205770a5-936c-4772-8c84-e03eb7b44e46" targetNamespace="http://schemas.microsoft.com/office/2006/metadata/properties" ma:root="true" ma:fieldsID="0c4e81202358d33be29038d79d4821a9" ns2:_="" ns3:_="">
    <xsd:import namespace="3bf83135-4203-4769-b93c-639af2b361b8"/>
    <xsd:import namespace="205770a5-936c-4772-8c84-e03eb7b44e46"/>
    <xsd:element name="properties">
      <xsd:complexType>
        <xsd:sequence>
          <xsd:element name="documentManagement">
            <xsd:complexType>
              <xsd:all>
                <xsd:element ref="ns2:Summary" minOccurs="0"/>
                <xsd:element ref="ns2:DocumentType2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DocumentTyp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83135-4203-4769-b93c-639af2b361b8" elementFormDefault="qualified">
    <xsd:import namespace="http://schemas.microsoft.com/office/2006/documentManagement/types"/>
    <xsd:import namespace="http://schemas.microsoft.com/office/infopath/2007/PartnerControls"/>
    <xsd:element name="Summary" ma:index="2" nillable="true" ma:displayName="Summary" ma:format="Dropdown" ma:internalName="Summary" ma:readOnly="false">
      <xsd:simpleType>
        <xsd:restriction base="dms:Text">
          <xsd:maxLength value="255"/>
        </xsd:restriction>
      </xsd:simpleType>
    </xsd:element>
    <xsd:element name="DocumentType2" ma:index="4" nillable="true" ma:displayName="Document Type" ma:format="Dropdown" ma:internalName="DocumentType2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Policy"/>
                        <xsd:enumeration value="Training"/>
                        <xsd:enumeration value="Template"/>
                        <xsd:enumeration value="Project Management"/>
                        <xsd:enumeration value="Communication"/>
                        <xsd:enumeration value="Education"/>
                        <xsd:enumeration value="Resource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9f123c60-6d59-4beb-a46f-4c7d903a1f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3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  <xsd:element name="DocumentTypr" ma:index="25" nillable="true" ma:displayName="Document Type (Old Don't Use)" ma:format="Dropdown" ma:hidden="true" ma:internalName="DocumentTypr" ma:readOnly="false">
      <xsd:simpleType>
        <xsd:union memberTypes="dms:Text">
          <xsd:simpleType>
            <xsd:restriction base="dms:Choice">
              <xsd:enumeration value="Policy"/>
              <xsd:enumeration value="Choice 2"/>
              <xsd:enumeration value="Choice 3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5770a5-936c-4772-8c84-e03eb7b44e4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1" nillable="true" ma:displayName="Taxonomy Catch All Column" ma:hidden="true" ma:list="{32101c32-cd8d-40ba-aedc-8a9af165d728}" ma:internalName="TaxCatchAll" ma:readOnly="false" ma:showField="CatchAllData" ma:web="205770a5-936c-4772-8c84-e03eb7b44e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bf83135-4203-4769-b93c-639af2b361b8">
      <Terms xmlns="http://schemas.microsoft.com/office/infopath/2007/PartnerControls"/>
    </lcf76f155ced4ddcb4097134ff3c332f>
    <TaxCatchAll xmlns="205770a5-936c-4772-8c84-e03eb7b44e46" xsi:nil="true"/>
    <Summary xmlns="3bf83135-4203-4769-b93c-639af2b361b8" xsi:nil="true"/>
    <DocumentType2 xmlns="3bf83135-4203-4769-b93c-639af2b361b8" xsi:nil="true"/>
    <DocumentTypr xmlns="3bf83135-4203-4769-b93c-639af2b361b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938AD5-DF6A-4EE3-B1D4-8D96E3BFF161}">
  <ds:schemaRefs>
    <ds:schemaRef ds:uri="205770a5-936c-4772-8c84-e03eb7b44e46"/>
    <ds:schemaRef ds:uri="3bf83135-4203-4769-b93c-639af2b361b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2ECE35B-C09A-4FD0-8E45-27D70E6DD18B}">
  <ds:schemaRefs>
    <ds:schemaRef ds:uri="http://purl.org/dc/dcmitype/"/>
    <ds:schemaRef ds:uri="205770a5-936c-4772-8c84-e03eb7b44e46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3bf83135-4203-4769-b93c-639af2b361b8"/>
    <ds:schemaRef ds:uri="http://www.w3.org/XML/1998/namespace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A59A4870-776D-420B-A100-C9D1778E7E1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e861d16-48b7-4a0e-9806-8c04d81b7b2a}" enabled="0" method="" siteId="{3e861d16-48b7-4a0e-9806-8c04d81b7b2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7447</TotalTime>
  <Words>557</Words>
  <Application>Microsoft Office PowerPoint</Application>
  <PresentationFormat>Widescreen</PresentationFormat>
  <Paragraphs>87</Paragraphs>
  <Slides>10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Courier New</vt:lpstr>
      <vt:lpstr>Office 2013 - 2022 Theme</vt:lpstr>
      <vt:lpstr>think-cell Slide</vt:lpstr>
      <vt:lpstr>PowerPoint Presentation</vt:lpstr>
      <vt:lpstr>PowerPoint Presentation</vt:lpstr>
      <vt:lpstr>Problem &amp; Motivation</vt:lpstr>
      <vt:lpstr>Generic PDF doc gen (pdfMan and PdfAdministrator)</vt:lpstr>
      <vt:lpstr>Backend Deep Dive (pdfMan)</vt:lpstr>
      <vt:lpstr>User Interface Deep Dive (pdfAdministrator)</vt:lpstr>
      <vt:lpstr>Design Process</vt:lpstr>
      <vt:lpstr>Progress so far</vt:lpstr>
      <vt:lpstr>Progress so far</vt:lpstr>
      <vt:lpstr>Thank you!  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Cantrell, Susan (EHS)</dc:creator>
  <cp:lastModifiedBy>Hogan, John D (EHS)</cp:lastModifiedBy>
  <cp:revision>5</cp:revision>
  <dcterms:created xsi:type="dcterms:W3CDTF">2023-08-30T15:09:12Z</dcterms:created>
  <dcterms:modified xsi:type="dcterms:W3CDTF">2026-06-22T20:18:31Z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0x0101001DF057FC68AFD74FBB050BF9A24A083F</vt:lpwstr>
  </property>
  <property fmtid="{D5CDD505-2E9C-101B-9397-08002B2CF9AE}" pid="3" name="MediaServiceImageTags">
    <vt:lpwstr/>
  </property>
</Properties>
</file>