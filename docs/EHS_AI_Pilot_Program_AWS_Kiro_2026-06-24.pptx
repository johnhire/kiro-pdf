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4"/>
  </p:sldMasterIdLst>
  <p:notesMasterIdLst>
    <p:notesMasterId r:id="rId18"/>
  </p:notesMasterIdLst>
  <p:sldIdLst>
    <p:sldId id="256" r:id="rId5"/>
    <p:sldId id="2147483640" r:id="rId6"/>
    <p:sldId id="2147483645" r:id="rId7"/>
    <p:sldId id="259" r:id="rId8"/>
    <p:sldId id="258" r:id="rId9"/>
    <p:sldId id="260" r:id="rId10"/>
    <p:sldId id="2147483642" r:id="rId11"/>
    <p:sldId id="2147483644" r:id="rId12"/>
    <p:sldId id="257" r:id="rId13"/>
    <p:sldId id="2147483647" r:id="rId14"/>
    <p:sldId id="261" r:id="rId15"/>
    <p:sldId id="2147483646" r:id="rId16"/>
    <p:sldId id="214748363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2E959-144A-48F2-9E36-10D307B61523}">
          <p14:sldIdLst>
            <p14:sldId id="256"/>
            <p14:sldId id="2147483640"/>
            <p14:sldId id="2147483645"/>
            <p14:sldId id="259"/>
            <p14:sldId id="258"/>
            <p14:sldId id="260"/>
            <p14:sldId id="2147483642"/>
            <p14:sldId id="2147483644"/>
            <p14:sldId id="257"/>
            <p14:sldId id="2147483647"/>
            <p14:sldId id="261"/>
            <p14:sldId id="2147483646"/>
            <p14:sldId id="21474836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170617-30EE-17B3-6E40-1CE4ECD60A9A}" name="Mor, Kyla (EHS)" initials="MK" userId="S::kyla.mor@mass.gov::c64c4427-ce6d-410d-b15e-9e6c0e6da7f0" providerId="AD"/>
  <p188:author id="{758006CB-9F0A-0159-1280-10F608B65395}" name="Brown, Maura B (EHS)" initials="MB" userId="S::Maura.B.Brown@mass.gov::efb52370-babc-4a45-8d1a-c3c99e0985c4" providerId="AD"/>
  <p188:author id="{DB208FD8-144A-0E3D-0830-BD7DBCF9E4E7}" name="Mor, Kyla (EHS)" initials="KM" userId="S::Kyla.Mor@mass.gov::c64c4427-ce6d-410d-b15e-9e6c0e6da7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6969"/>
    <a:srgbClr val="092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3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723B-46BC-473E-9E7D-EF21D333958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96B86-A8E2-4C09-BC19-F217575B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37DA-8B86-38F0-5882-1EED1A7F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06212-E444-6DBC-1494-1E353059A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83CF-2210-D8F6-66A0-2645D6F8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backend features restful web services to maintain document templates and documents generated from these templates.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These have accumulated significant technical debt.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Objective: </a:t>
            </a:r>
            <a:r>
              <a:rPr lang="en-US" sz="2400" dirty="0">
                <a:solidFill>
                  <a:srgbClr val="000000"/>
                </a:solidFill>
              </a:rPr>
              <a:t>Can an AI-driven IDEs like Kiro produce readable, usable, bug-free code throughout the entire SDLC?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 AI Period 4Find out if Kiro can: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Ease our maintenance burden for existing catalog of applications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Speed up software development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Help us with upgrades, vulnerability remediation and new feature development.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B017-5650-4735-F324-E8F9C3FD2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3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4E12-871A-7EA1-4741-3ACC178B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21A71-7325-8384-7427-A57B5136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6127-3199-7557-5849-1C0DB0F77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57EB-2681-B658-9AED-0EBB98DFD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43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Kiro is designed to transform natural language requests into requirements, design artifacts, code, tests, and documentation in a structured workflow.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038C-772C-60E5-C48F-2C98D73B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C35C-5EE5-9618-462D-EE22DE8E2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C1939-30D8-36BD-7DB3-A6358DF42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F964A-06FE-DD3F-3010-DD4D388C0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83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BBC6-CFFE-DE58-BCDC-A6784611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B70D2-9891-D64F-089F-8C540B775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97688-7981-3FB9-8696-6BF98A9B0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Kiro is designed to transform natural language requests into requirements, design artifacts, code, tests, and documentation in a structured workflow.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70B88-CFA1-A834-BC41-0E97CBDEC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70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4E12-871A-7EA1-4741-3ACC178B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21A71-7325-8384-7427-A57B5136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6127-3199-7557-5849-1C0DB0F77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 Files: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 file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plain text file that uses simple formatting symbols to create structured documents.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 Markdown Syntax</a:t>
            </a:r>
          </a:p>
          <a:p>
            <a:r>
              <a:rPr lang="en-US" b="0" dirty="0"/>
              <a:t># Main Title</a:t>
            </a:r>
          </a:p>
          <a:p>
            <a:r>
              <a:rPr lang="en-US" b="0" dirty="0"/>
              <a:t>## Section</a:t>
            </a:r>
          </a:p>
          <a:p>
            <a:r>
              <a:rPr lang="en-US" b="0" dirty="0"/>
              <a:t>### Subsection</a:t>
            </a:r>
          </a:p>
          <a:p>
            <a:endParaRPr lang="en-US" b="0" dirty="0"/>
          </a:p>
          <a:p>
            <a:r>
              <a:rPr lang="en-US" b="0" dirty="0"/>
              <a:t>You can also have markdown </a:t>
            </a:r>
            <a:r>
              <a:rPr lang="en-US" b="0" dirty="0" err="1"/>
              <a:t>sysntax</a:t>
            </a:r>
            <a:r>
              <a:rPr lang="en-US" b="0" dirty="0"/>
              <a:t> for Lists, Numbered Lists, Bold and Italics, Code and Links.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57EB-2681-B658-9AED-0EBB98DFD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43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4DE9B-F785-48EB-3478-B1CFE1C4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14617-FCBD-5C92-95E9-3868C3019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A6729-E06B-B060-A08F-1AAAD87AB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3834E-98E0-8484-14CE-870D04983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73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41A3-29DC-62D8-2BEA-2DDD8409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40CAF-0F40-EC16-0D5E-100858791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8E2B4-65DD-BF56-97DC-9D621931B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6C4A-D3C5-E27F-3E13-91F07274E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0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6C5B-6552-EAE4-4196-5A5F5B2A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4B748-B956-6367-9D72-BF1BC4F7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84ACE-31D9-DD71-F3EF-270095C87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C3824-EEE3-7D41-A3E5-7B8082F7A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32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1EEB-CABF-4E63-C310-F63483B7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C02B2-9E06-A563-A6B2-7CE0E94A1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CCF3E-B129-79CD-3AD9-181991168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050B9-6971-669A-F33A-CBC0E711C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0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1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1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4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3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327921-899C-1548-1446-08625D95D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80" y="0"/>
            <a:ext cx="12252960" cy="34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9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25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0397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27885"/>
            <a:ext cx="5157787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30397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127885"/>
            <a:ext cx="5183188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98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1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4451"/>
            <a:ext cx="6172200" cy="45466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314450"/>
            <a:ext cx="3932237" cy="455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0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00151"/>
            <a:ext cx="6172200" cy="466090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208088"/>
            <a:ext cx="3932237" cy="466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59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26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8" name="Object 2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648" y="237744"/>
            <a:ext cx="11655552" cy="292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3716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25654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37592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49530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2484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94488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454400" y="1752601"/>
            <a:ext cx="3869008" cy="1323439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6406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6348642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42698-0C12-47E7-AC88-43BAE3C03F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FC5AF-6659-B8B7-0BF2-AE4C3A846C18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6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4" r:id="rId13"/>
    <p:sldLayoutId id="2147483665" r:id="rId14"/>
    <p:sldLayoutId id="2147483666" r:id="rId15"/>
    <p:sldLayoutId id="2147483668" r:id="rId16"/>
    <p:sldLayoutId id="2147483669" r:id="rId17"/>
    <p:sldLayoutId id="2147483670" r:id="rId18"/>
    <p:sldLayoutId id="2147483711" r:id="rId19"/>
    <p:sldLayoutId id="2147483712" r:id="rId20"/>
    <p:sldLayoutId id="2147483687" r:id="rId2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ss.gov/info-details/user-experience-ux-microco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9A6185-02FA-4B04-BC2F-BACB697BDB42}"/>
              </a:ext>
            </a:extLst>
          </p:cNvPr>
          <p:cNvSpPr txBox="1">
            <a:spLocks/>
          </p:cNvSpPr>
          <p:nvPr/>
        </p:nvSpPr>
        <p:spPr>
          <a:xfrm>
            <a:off x="1099750" y="3904736"/>
            <a:ext cx="10404389" cy="2618086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EOHHS AI Pilot Program Phase 4</a:t>
            </a:r>
          </a:p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AI Software Development Using AWS Kiro</a:t>
            </a:r>
            <a:br>
              <a:rPr lang="en-US" sz="4000" b="1" dirty="0">
                <a:solidFill>
                  <a:srgbClr val="092F6D"/>
                </a:solidFill>
                <a:latin typeface="+mn-lt"/>
              </a:rPr>
            </a:br>
            <a:endParaRPr lang="en-US" sz="1000" b="1" dirty="0">
              <a:solidFill>
                <a:srgbClr val="092F6D"/>
              </a:solidFill>
              <a:latin typeface="+mn-lt"/>
            </a:endParaRPr>
          </a:p>
          <a:p>
            <a:pPr algn="ctr"/>
            <a:endParaRPr lang="en-US" sz="2800" b="1" dirty="0">
              <a:solidFill>
                <a:srgbClr val="092F6D"/>
              </a:solidFill>
              <a:latin typeface="+mn-lt"/>
            </a:endParaRPr>
          </a:p>
          <a:p>
            <a:pPr algn="ctr"/>
            <a:r>
              <a:rPr lang="en-US" sz="2800" b="1" dirty="0">
                <a:solidFill>
                  <a:srgbClr val="092F6D"/>
                </a:solidFill>
                <a:latin typeface="+mn-lt"/>
              </a:rPr>
              <a:t>John Hogan and Anand Geetey</a:t>
            </a:r>
            <a:br>
              <a:rPr lang="en-US" sz="2800" b="1" dirty="0">
                <a:solidFill>
                  <a:srgbClr val="092F6D"/>
                </a:solidFill>
                <a:latin typeface="+mn-lt"/>
              </a:rPr>
            </a:br>
            <a:endParaRPr lang="en-US" sz="1000" b="1" dirty="0">
              <a:solidFill>
                <a:srgbClr val="092F6D"/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rgbClr val="092F6D"/>
                </a:solidFill>
                <a:latin typeface="+mn-lt"/>
              </a:rPr>
              <a:t>EHS-Enterprise Architecture Team</a:t>
            </a:r>
            <a:endParaRPr 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772F72-FA95-43E4-9237-6504D7720FA7}"/>
              </a:ext>
            </a:extLst>
          </p:cNvPr>
          <p:cNvSpPr txBox="1">
            <a:spLocks/>
          </p:cNvSpPr>
          <p:nvPr/>
        </p:nvSpPr>
        <p:spPr>
          <a:xfrm>
            <a:off x="6469924" y="5795572"/>
            <a:ext cx="5223510" cy="835024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solidFill>
                  <a:srgbClr val="092F6D"/>
                </a:solidFill>
                <a:latin typeface="+mn-lt"/>
              </a:rPr>
              <a:t>2026-06-24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5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DC7E-1CA1-C81C-C47F-D1346B00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29AE-2A8E-1140-0C26-24BFA449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</a:rPr>
              <a:t>Problem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CDFC3-737D-B37D-1CD1-7F5B4AB480F0}"/>
              </a:ext>
            </a:extLst>
          </p:cNvPr>
          <p:cNvSpPr txBox="1"/>
          <p:nvPr/>
        </p:nvSpPr>
        <p:spPr>
          <a:xfrm>
            <a:off x="390618" y="945470"/>
            <a:ext cx="11292396" cy="530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</a:t>
            </a:r>
            <a:endParaRPr lang="en-US" sz="32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Traditional software development is slow, expensive and error prone.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EOHHS has 60 + applications representing a significant maintenance burden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version upgrades, 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security vulnerability fixes,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new apps and features</a:t>
            </a:r>
            <a:endParaRPr lang="en-US" sz="2400" dirty="0"/>
          </a:p>
          <a:p>
            <a:pPr lvl="1"/>
            <a:endParaRPr lang="en-US" sz="1050" dirty="0"/>
          </a:p>
          <a:p>
            <a:r>
              <a:rPr lang="en-US" sz="3200" b="1" dirty="0"/>
              <a:t>Motivation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Leverage the EOHHS AI Pilot Phase 4 to determine how AI tools like </a:t>
            </a:r>
            <a:r>
              <a:rPr lang="en-US" sz="2000" b="1" dirty="0">
                <a:highlight>
                  <a:srgbClr val="00FF00"/>
                </a:highlight>
              </a:rPr>
              <a:t>Kiro</a:t>
            </a:r>
            <a:r>
              <a:rPr lang="en-US" sz="2000" dirty="0"/>
              <a:t> might help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AI Period 4 - Workstream Item:  </a:t>
            </a:r>
            <a:r>
              <a:rPr lang="en-US" b="1" dirty="0">
                <a:highlight>
                  <a:srgbClr val="00FF00"/>
                </a:highlight>
              </a:rPr>
              <a:t>AI-Powered Coding Environments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We asked to participate in this workstream and selected AWS’s new Kiro IDE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Would evaluate Kiro doing a fictitious project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generic PDF doc generation microservices project.  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pdf manager </a:t>
            </a:r>
            <a:r>
              <a:rPr lang="en-US" b="1" dirty="0"/>
              <a:t>backend</a:t>
            </a:r>
            <a:r>
              <a:rPr lang="en-US" dirty="0"/>
              <a:t> pdf manager (</a:t>
            </a:r>
            <a:r>
              <a:rPr lang="en-US" dirty="0" err="1"/>
              <a:t>pdfMan</a:t>
            </a:r>
            <a:r>
              <a:rPr lang="en-US" dirty="0"/>
              <a:t>) and pdf administrator (PdfAdministrator) user interface.  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468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AE3D-6FFC-2BD3-47E2-F59610C0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AC9-D500-6D49-1E1A-919F4E4D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Kiro Solves Problems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74C1BF-33F5-FB82-3515-DD9603B7D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56869"/>
              </p:ext>
            </p:extLst>
          </p:nvPr>
        </p:nvGraphicFramePr>
        <p:xfrm>
          <a:off x="640603" y="1059809"/>
          <a:ext cx="10926916" cy="55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458">
                  <a:extLst>
                    <a:ext uri="{9D8B030D-6E8A-4147-A177-3AD203B41FA5}">
                      <a16:colId xmlns:a16="http://schemas.microsoft.com/office/drawing/2014/main" val="1723652306"/>
                    </a:ext>
                  </a:extLst>
                </a:gridCol>
                <a:gridCol w="5463458">
                  <a:extLst>
                    <a:ext uri="{9D8B030D-6E8A-4147-A177-3AD203B41FA5}">
                      <a16:colId xmlns:a16="http://schemas.microsoft.com/office/drawing/2014/main" val="1261030038"/>
                    </a:ext>
                  </a:extLst>
                </a:gridCol>
              </a:tblGrid>
              <a:tr h="685176">
                <a:tc>
                  <a:txBody>
                    <a:bodyPr/>
                    <a:lstStyle/>
                    <a:p>
                      <a:r>
                        <a:rPr lang="en-US" sz="3200" dirty="0"/>
                        <a:t>Stakeholder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Pain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52828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Repetitive coding, context switching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42589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Missing test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32196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Team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Inconsistent implementation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62441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Business Analysts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Requirements lost during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259288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Difficulty predicting delivery 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434580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800" dirty="0"/>
                        <a:t>Executives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Faster delivery often increases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1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936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77C3B2-4A76-F42E-C621-43F68502CA64}"/>
              </a:ext>
            </a:extLst>
          </p:cNvPr>
          <p:cNvSpPr txBox="1"/>
          <p:nvPr/>
        </p:nvSpPr>
        <p:spPr>
          <a:xfrm>
            <a:off x="1283110" y="916630"/>
            <a:ext cx="8219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Kiro's Approach:    </a:t>
            </a:r>
            <a:r>
              <a:rPr lang="en-US" dirty="0"/>
              <a:t>"Make the specification—not the prompt—the unit of work."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7250EB-DCF2-ECF3-E3CF-7B2AF5AE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Turning Business Intent into Production-Ready Software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B2E0D4-7406-08E1-5283-773C0D544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31822"/>
              </p:ext>
            </p:extLst>
          </p:nvPr>
        </p:nvGraphicFramePr>
        <p:xfrm>
          <a:off x="611771" y="1513422"/>
          <a:ext cx="2946975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975">
                  <a:extLst>
                    <a:ext uri="{9D8B030D-6E8A-4147-A177-3AD203B41FA5}">
                      <a16:colId xmlns:a16="http://schemas.microsoft.com/office/drawing/2014/main" val="1024246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Business Need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102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16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Requirements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31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5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Design Document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32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09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Task Breakdown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70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5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Code Generation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441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1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Tests &amp; Validation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80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n>
                          <a:noFill/>
                        </a:ln>
                        <a:solidFill>
                          <a:schemeClr val="accent2"/>
                        </a:solidFill>
                      </a:endParaRP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90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</a:rPr>
                        <a:t>Documentation</a:t>
                      </a:r>
                    </a:p>
                  </a:txBody>
                  <a:tcPr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694218"/>
                  </a:ext>
                </a:extLst>
              </a:tr>
            </a:tbl>
          </a:graphicData>
        </a:graphic>
      </p:graphicFrame>
      <p:sp>
        <p:nvSpPr>
          <p:cNvPr id="10" name="Arrow: Down 9">
            <a:extLst>
              <a:ext uri="{FF2B5EF4-FFF2-40B4-BE49-F238E27FC236}">
                <a16:creationId xmlns:a16="http://schemas.microsoft.com/office/drawing/2014/main" id="{3F359670-4196-A9E8-7946-E07FABE54C82}"/>
              </a:ext>
            </a:extLst>
          </p:cNvPr>
          <p:cNvSpPr/>
          <p:nvPr/>
        </p:nvSpPr>
        <p:spPr>
          <a:xfrm>
            <a:off x="1905658" y="1853511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F7AEB5F-5BB2-EE77-0646-232639D0912B}"/>
              </a:ext>
            </a:extLst>
          </p:cNvPr>
          <p:cNvSpPr/>
          <p:nvPr/>
        </p:nvSpPr>
        <p:spPr>
          <a:xfrm>
            <a:off x="1872707" y="2636106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A8749A9-F486-11FD-17B8-03FC930A69FD}"/>
              </a:ext>
            </a:extLst>
          </p:cNvPr>
          <p:cNvSpPr/>
          <p:nvPr/>
        </p:nvSpPr>
        <p:spPr>
          <a:xfrm>
            <a:off x="1852112" y="3468128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17FD903-955B-ED23-FE5F-F7A6754D1B9D}"/>
              </a:ext>
            </a:extLst>
          </p:cNvPr>
          <p:cNvSpPr/>
          <p:nvPr/>
        </p:nvSpPr>
        <p:spPr>
          <a:xfrm>
            <a:off x="1819161" y="4275436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8E53FB2-C6F0-CF56-BE88-DD9640860AC2}"/>
              </a:ext>
            </a:extLst>
          </p:cNvPr>
          <p:cNvSpPr/>
          <p:nvPr/>
        </p:nvSpPr>
        <p:spPr>
          <a:xfrm>
            <a:off x="1798566" y="5045674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981A9280-96F2-7693-FC32-4822A1BFA103}"/>
              </a:ext>
            </a:extLst>
          </p:cNvPr>
          <p:cNvSpPr/>
          <p:nvPr/>
        </p:nvSpPr>
        <p:spPr>
          <a:xfrm>
            <a:off x="1773853" y="5861220"/>
            <a:ext cx="380343" cy="457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E00D4-D919-9A51-F003-894CF4BDFDD2}"/>
              </a:ext>
            </a:extLst>
          </p:cNvPr>
          <p:cNvSpPr txBox="1"/>
          <p:nvPr/>
        </p:nvSpPr>
        <p:spPr>
          <a:xfrm>
            <a:off x="4816046" y="1563297"/>
            <a:ext cx="60980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Features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Generates requirements and user stories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Creates technical design documents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Breaks work into implementable tasks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Produces code, tests, and documentation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Enforces team standards through steering files and hooks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D90030-72C0-43EB-7257-F3E3AE449A8B}"/>
              </a:ext>
            </a:extLst>
          </p:cNvPr>
          <p:cNvSpPr txBox="1"/>
          <p:nvPr/>
        </p:nvSpPr>
        <p:spPr>
          <a:xfrm>
            <a:off x="4807808" y="4495967"/>
            <a:ext cx="60980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Value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Less ambiguity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Better handoffs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Reduced work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Improved traceability</a:t>
            </a:r>
          </a:p>
        </p:txBody>
      </p:sp>
    </p:spTree>
    <p:extLst>
      <p:ext uri="{BB962C8B-B14F-4D97-AF65-F5344CB8AC3E}">
        <p14:creationId xmlns:p14="http://schemas.microsoft.com/office/powerpoint/2010/main" val="137493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16E8-B4E4-7E73-38FC-73345E9F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26E3-AB35-7805-EE94-BF0462FF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What’s In It For Me?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A99D06-1ED3-E71B-6BA4-8D361F631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27469"/>
              </p:ext>
            </p:extLst>
          </p:nvPr>
        </p:nvGraphicFramePr>
        <p:xfrm>
          <a:off x="640603" y="1059809"/>
          <a:ext cx="10926916" cy="50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458">
                  <a:extLst>
                    <a:ext uri="{9D8B030D-6E8A-4147-A177-3AD203B41FA5}">
                      <a16:colId xmlns:a16="http://schemas.microsoft.com/office/drawing/2014/main" val="1723652306"/>
                    </a:ext>
                  </a:extLst>
                </a:gridCol>
                <a:gridCol w="5463458">
                  <a:extLst>
                    <a:ext uri="{9D8B030D-6E8A-4147-A177-3AD203B41FA5}">
                      <a16:colId xmlns:a16="http://schemas.microsoft.com/office/drawing/2014/main" val="1261030038"/>
                    </a:ext>
                  </a:extLst>
                </a:gridCol>
              </a:tblGrid>
              <a:tr h="685176">
                <a:tc>
                  <a:txBody>
                    <a:bodyPr/>
                    <a:lstStyle/>
                    <a:p>
                      <a:r>
                        <a:rPr lang="en-US" sz="3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52828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 implementation and less boilerplate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42589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Tests generated alongside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32196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Team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Consistent architecture and coding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62441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Business Analysts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Requirements lost during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259288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Project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Better estimation through task decomposition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434580"/>
                  </a:ext>
                </a:extLst>
              </a:tr>
              <a:tr h="685176">
                <a:tc>
                  <a:txBody>
                    <a:bodyPr/>
                    <a:lstStyle/>
                    <a:p>
                      <a:r>
                        <a:rPr lang="en-US" sz="2400" dirty="0"/>
                        <a:t>Executives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 time-to-market with governance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1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36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19C14-A60C-555A-9A15-566F5EA4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72F4BA2-CEC3-7936-83A3-A24FA0F4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35" y="-254902"/>
            <a:ext cx="5918886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Business Value &amp; Outcomes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3C3112-CF10-01E7-2763-F13899DA363A}"/>
              </a:ext>
            </a:extLst>
          </p:cNvPr>
          <p:cNvSpPr txBox="1"/>
          <p:nvPr/>
        </p:nvSpPr>
        <p:spPr>
          <a:xfrm>
            <a:off x="997808" y="1501514"/>
            <a:ext cx="40437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Faster Delivery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Less manual documentation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Faster feature implementation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Reduced onboarding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4C5D25-2CCE-75C5-3943-AD48ADE7E1BB}"/>
              </a:ext>
            </a:extLst>
          </p:cNvPr>
          <p:cNvSpPr txBox="1"/>
          <p:nvPr/>
        </p:nvSpPr>
        <p:spPr>
          <a:xfrm>
            <a:off x="716692" y="864973"/>
            <a:ext cx="4349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Organizations Are Interested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0D5C6-BDD2-4A44-ABF2-DC6FC6A5DC02}"/>
              </a:ext>
            </a:extLst>
          </p:cNvPr>
          <p:cNvSpPr txBox="1"/>
          <p:nvPr/>
        </p:nvSpPr>
        <p:spPr>
          <a:xfrm>
            <a:off x="1001926" y="3198509"/>
            <a:ext cx="40437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Better Quality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Built-in testing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Automated validation hooks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Consistent engineering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2FE54-8BFF-333E-1CB2-948B12E774F7}"/>
              </a:ext>
            </a:extLst>
          </p:cNvPr>
          <p:cNvSpPr txBox="1"/>
          <p:nvPr/>
        </p:nvSpPr>
        <p:spPr>
          <a:xfrm>
            <a:off x="931904" y="4784293"/>
            <a:ext cx="40437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Lower Risk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Requirements traceability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Reduced technical debt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Knowledge captured in specification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F3A31-5427-FE7D-3C76-A64552D07CA4}"/>
              </a:ext>
            </a:extLst>
          </p:cNvPr>
          <p:cNvSpPr txBox="1"/>
          <p:nvPr/>
        </p:nvSpPr>
        <p:spPr>
          <a:xfrm>
            <a:off x="5973460" y="1620963"/>
            <a:ext cx="4307361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Greater Organizational Learning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 decisions become reusable assets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Documentation stays closer to implementation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37FD2-581D-B7A5-68F9-8864C904E5D7}"/>
              </a:ext>
            </a:extLst>
          </p:cNvPr>
          <p:cNvSpPr txBox="1"/>
          <p:nvPr/>
        </p:nvSpPr>
        <p:spPr>
          <a:xfrm>
            <a:off x="5915795" y="3540379"/>
            <a:ext cx="5687199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Bottom Line</a:t>
            </a:r>
            <a:br>
              <a:rPr lang="en-US" sz="2400" b="1" dirty="0"/>
            </a:br>
            <a:endParaRPr lang="en-US" sz="6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Less manual documentation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Kiro helps teams move from prototype to production while maintaining engineering discipline and business alignment</a:t>
            </a:r>
          </a:p>
        </p:txBody>
      </p:sp>
    </p:spTree>
    <p:extLst>
      <p:ext uri="{BB962C8B-B14F-4D97-AF65-F5344CB8AC3E}">
        <p14:creationId xmlns:p14="http://schemas.microsoft.com/office/powerpoint/2010/main" val="181682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EA33C6-C814-0989-44AA-59340FCB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Sample App Architecture:  System of Two Microservice Apps</a:t>
            </a:r>
            <a:endParaRPr 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73D0C4-4623-DBBA-165A-70CE2C5BC078}"/>
              </a:ext>
            </a:extLst>
          </p:cNvPr>
          <p:cNvSpPr txBox="1">
            <a:spLocks/>
          </p:cNvSpPr>
          <p:nvPr/>
        </p:nvSpPr>
        <p:spPr>
          <a:xfrm>
            <a:off x="754817" y="22890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AI Powered Software Development Using AWS Kiro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C4489-EE9D-D7C7-D1F6-06D39E391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4" y="763992"/>
            <a:ext cx="8144618" cy="6007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CEC979-4097-12E1-9C1B-AB34A18F5171}"/>
              </a:ext>
            </a:extLst>
          </p:cNvPr>
          <p:cNvSpPr txBox="1"/>
          <p:nvPr/>
        </p:nvSpPr>
        <p:spPr>
          <a:xfrm>
            <a:off x="8637373" y="2001795"/>
            <a:ext cx="3373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PDF Administrator User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16D75-7AD0-3988-267C-F0A08F735225}"/>
              </a:ext>
            </a:extLst>
          </p:cNvPr>
          <p:cNvSpPr txBox="1"/>
          <p:nvPr/>
        </p:nvSpPr>
        <p:spPr>
          <a:xfrm>
            <a:off x="8678562" y="4501978"/>
            <a:ext cx="33733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PDF Manager backend web services</a:t>
            </a:r>
          </a:p>
        </p:txBody>
      </p:sp>
    </p:spTree>
    <p:extLst>
      <p:ext uri="{BB962C8B-B14F-4D97-AF65-F5344CB8AC3E}">
        <p14:creationId xmlns:p14="http://schemas.microsoft.com/office/powerpoint/2010/main" val="354988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AE3D-6FFC-2BD3-47E2-F59610C0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AC9-D500-6D49-1E1A-919F4E4D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Design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CBBE3-AEF5-09FC-8FF5-86BF751BD37A}"/>
              </a:ext>
            </a:extLst>
          </p:cNvPr>
          <p:cNvSpPr txBox="1"/>
          <p:nvPr/>
        </p:nvSpPr>
        <p:spPr>
          <a:xfrm>
            <a:off x="390618" y="945470"/>
            <a:ext cx="11292396" cy="57738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We started with discussing and drawing the workflows.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For the UI design, we use Massachusetts Design System. This provides us plenty of accessible UI components and patterns that are responsive to the users’ screen size.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Following Massachusetts Design guidelines helps us to create a scalable system that can be quickly customized to meet different project needs.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Exploring Kiro’s Steering markdown files* to create generic reusable style templates.</a:t>
            </a:r>
            <a:br>
              <a:rPr lang="en-US" sz="2400" dirty="0">
                <a:ea typeface="Calibri"/>
                <a:cs typeface="Calibri"/>
              </a:rPr>
            </a:br>
            <a:br>
              <a:rPr lang="en-US" sz="1600" dirty="0">
                <a:ea typeface="Calibri"/>
                <a:cs typeface="Calibri"/>
              </a:rPr>
            </a:br>
            <a:r>
              <a:rPr lang="en-US" sz="1600" dirty="0">
                <a:ea typeface="Calibri"/>
                <a:cs typeface="Calibri"/>
              </a:rPr>
              <a:t>*</a:t>
            </a:r>
            <a:r>
              <a:rPr lang="en-US" sz="1600" dirty="0"/>
              <a:t>A plain text file that uses simple formatting symbols to create structured documents. For </a:t>
            </a:r>
            <a:r>
              <a:rPr lang="en-US" sz="1600" dirty="0" err="1"/>
              <a:t>eg</a:t>
            </a:r>
            <a:r>
              <a:rPr lang="en-US" sz="1600" dirty="0"/>
              <a:t>: </a:t>
            </a:r>
            <a:r>
              <a:rPr lang="en-US" sz="1600" dirty="0" err="1"/>
              <a:t>README.md</a:t>
            </a:r>
            <a:endParaRPr lang="en-US" sz="1600" dirty="0"/>
          </a:p>
          <a:p>
            <a:r>
              <a:rPr lang="en-US" sz="1600" b="1" dirty="0">
                <a:cs typeface="Calibri"/>
              </a:rPr>
              <a:t>	</a:t>
            </a:r>
            <a:r>
              <a:rPr lang="en-US" sz="1600" b="1" dirty="0"/>
              <a:t>Basic Markdown Syntax</a:t>
            </a:r>
          </a:p>
          <a:p>
            <a:r>
              <a:rPr lang="en-US" sz="1600" dirty="0"/>
              <a:t>	# Main Title</a:t>
            </a:r>
          </a:p>
          <a:p>
            <a:r>
              <a:rPr lang="en-US" sz="1600" dirty="0"/>
              <a:t>	## Section</a:t>
            </a:r>
          </a:p>
          <a:p>
            <a:r>
              <a:rPr lang="en-US" sz="1600" dirty="0"/>
              <a:t>	### Subsection</a:t>
            </a:r>
          </a:p>
          <a:p>
            <a:endParaRPr lang="en-US" sz="1600" dirty="0"/>
          </a:p>
          <a:p>
            <a:r>
              <a:rPr lang="en-US" sz="1600" dirty="0"/>
              <a:t>	You can also have markdown syntax for Lists, Numbered Lists, Bold and Italics, Code and Links.</a:t>
            </a:r>
          </a:p>
        </p:txBody>
      </p:sp>
    </p:spTree>
    <p:extLst>
      <p:ext uri="{BB962C8B-B14F-4D97-AF65-F5344CB8AC3E}">
        <p14:creationId xmlns:p14="http://schemas.microsoft.com/office/powerpoint/2010/main" val="139375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DF83-98FF-0BA3-5D7D-607FDAB4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F95A-2285-43C4-26C7-6D316B89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Kiro’s Steering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6F171-0DCE-6911-2A3D-D09BF2E1B791}"/>
              </a:ext>
            </a:extLst>
          </p:cNvPr>
          <p:cNvSpPr txBox="1"/>
          <p:nvPr/>
        </p:nvSpPr>
        <p:spPr>
          <a:xfrm>
            <a:off x="390618" y="945470"/>
            <a:ext cx="11292396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We are writing the custom Steering files for Commonwealth that could drive the UX and front-end development. Some of the standards that we have at Commonwealth: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Sentence case for titles, labels, page titles or other brief texts.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Sentence case for headings, subheadings and card titles.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Date and time formatting.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Address formatting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Button menu items, calls-to-action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Links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1600" dirty="0"/>
              <a:t>Reference: </a:t>
            </a:r>
            <a:r>
              <a:rPr lang="en-US" sz="1600" dirty="0">
                <a:hlinkClick r:id="rId3"/>
              </a:rPr>
              <a:t>https://www.mass.gov/info-details/user-experience-ux-microcopy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4990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3E15-0F50-33DC-F578-263C2D3A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D221-204F-55E4-E33D-F16AECF7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Kiro’s Steering customized for Commonwealth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08CDC-445F-F440-358B-F1F75D8F2F94}"/>
              </a:ext>
            </a:extLst>
          </p:cNvPr>
          <p:cNvSpPr txBox="1"/>
          <p:nvPr/>
        </p:nvSpPr>
        <p:spPr>
          <a:xfrm>
            <a:off x="390618" y="945470"/>
            <a:ext cx="11292396" cy="1217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Steering gives Kiro persistent knowledge about the workspace through markdown files.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Instead of explaining the conventions in every chat, steering files ensure Kiro consistently follows the established patterns, libraries, and standards. 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A1486-E895-6913-0D81-13DA3A9FD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71033"/>
            <a:ext cx="7772400" cy="422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4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0E75-BEAE-FDA5-6BD7-21F0A8AF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165E-2A1D-93D5-449D-AA9912FD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Progress on UX so far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55476-6417-E955-85A0-A011F5407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18" y="1517515"/>
            <a:ext cx="5972329" cy="2568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0FA04-268F-4546-8CDF-D9A7A8541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371" y="1517515"/>
            <a:ext cx="4275194" cy="52237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03D5DC-42E9-9650-85B3-E8BCA5522CA7}"/>
              </a:ext>
            </a:extLst>
          </p:cNvPr>
          <p:cNvSpPr txBox="1"/>
          <p:nvPr/>
        </p:nvSpPr>
        <p:spPr>
          <a:xfrm>
            <a:off x="390618" y="945470"/>
            <a:ext cx="112923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/>
              <a:t>Templates Page (before v/s after)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64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970F-29E1-102C-4F32-B0632C2D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B425-3189-9496-EE55-6F96BF86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Progress so far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90FCC-2F5D-8F5D-1419-BF98C6D59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" y="1606431"/>
            <a:ext cx="5634963" cy="483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D614BF-891B-1A1A-EA26-D15D5C91B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6431"/>
            <a:ext cx="5791819" cy="4556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0899CE-E04D-EA0E-A2CC-513A3D1171E4}"/>
              </a:ext>
            </a:extLst>
          </p:cNvPr>
          <p:cNvSpPr txBox="1"/>
          <p:nvPr/>
        </p:nvSpPr>
        <p:spPr>
          <a:xfrm>
            <a:off x="390618" y="945470"/>
            <a:ext cx="112923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/>
              <a:t>Create Template Page (before v/s after)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04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9B1F-C496-5F0F-412F-7657A2E35C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8823" y="2766218"/>
            <a:ext cx="97543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>
                <a:latin typeface="+mn-lt"/>
              </a:rPr>
              <a:t>Thank you!  </a:t>
            </a:r>
            <a:br>
              <a:rPr lang="en-US" sz="6600" b="1">
                <a:latin typeface="+mn-lt"/>
              </a:rPr>
            </a:br>
            <a:r>
              <a:rPr lang="en-US" sz="6600" b="1">
                <a:latin typeface="+mn-lt"/>
              </a:rPr>
              <a:t>Any questions?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8010A-C03C-7027-AAF5-954EAEBA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71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blEEfJJRA3Z_qO1pXby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057FC68AFD74FBB050BF9A24A083F" ma:contentTypeVersion="22" ma:contentTypeDescription="Create a new document." ma:contentTypeScope="" ma:versionID="2c02e7e5245c5b6f03180a50d5a6552e">
  <xsd:schema xmlns:xsd="http://www.w3.org/2001/XMLSchema" xmlns:xs="http://www.w3.org/2001/XMLSchema" xmlns:p="http://schemas.microsoft.com/office/2006/metadata/properties" xmlns:ns2="3bf83135-4203-4769-b93c-639af2b361b8" xmlns:ns3="205770a5-936c-4772-8c84-e03eb7b44e46" targetNamespace="http://schemas.microsoft.com/office/2006/metadata/properties" ma:root="true" ma:fieldsID="0c4e81202358d33be29038d79d4821a9" ns2:_="" ns3:_="">
    <xsd:import namespace="3bf83135-4203-4769-b93c-639af2b361b8"/>
    <xsd:import namespace="205770a5-936c-4772-8c84-e03eb7b44e46"/>
    <xsd:element name="properties">
      <xsd:complexType>
        <xsd:sequence>
          <xsd:element name="documentManagement">
            <xsd:complexType>
              <xsd:all>
                <xsd:element ref="ns2:Summary" minOccurs="0"/>
                <xsd:element ref="ns2:DocumentType2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DocumentTyp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83135-4203-4769-b93c-639af2b361b8" elementFormDefault="qualified">
    <xsd:import namespace="http://schemas.microsoft.com/office/2006/documentManagement/types"/>
    <xsd:import namespace="http://schemas.microsoft.com/office/infopath/2007/PartnerControls"/>
    <xsd:element name="Summary" ma:index="2" nillable="true" ma:displayName="Summary" ma:format="Dropdown" ma:internalName="Summary" ma:readOnly="false">
      <xsd:simpleType>
        <xsd:restriction base="dms:Text">
          <xsd:maxLength value="255"/>
        </xsd:restriction>
      </xsd:simpleType>
    </xsd:element>
    <xsd:element name="DocumentType2" ma:index="4" nillable="true" ma:displayName="Document Type" ma:format="Dropdown" ma:internalName="DocumentType2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olicy"/>
                        <xsd:enumeration value="Training"/>
                        <xsd:enumeration value="Template"/>
                        <xsd:enumeration value="Project Management"/>
                        <xsd:enumeration value="Communication"/>
                        <xsd:enumeration value="Education"/>
                        <xsd:enumeration value="Resourc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f123c60-6d59-4beb-a46f-4c7d903a1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3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Typr" ma:index="25" nillable="true" ma:displayName="Document Type (Old Don't Use)" ma:format="Dropdown" ma:hidden="true" ma:internalName="DocumentTypr" ma:readOnly="false">
      <xsd:simpleType>
        <xsd:union memberTypes="dms:Text">
          <xsd:simpleType>
            <xsd:restriction base="dms:Choice">
              <xsd:enumeration value="Policy"/>
              <xsd:enumeration value="Choice 2"/>
              <xsd:enumeration value="Choice 3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770a5-936c-4772-8c84-e03eb7b44e4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1" nillable="true" ma:displayName="Taxonomy Catch All Column" ma:hidden="true" ma:list="{32101c32-cd8d-40ba-aedc-8a9af165d728}" ma:internalName="TaxCatchAll" ma:readOnly="false" ma:showField="CatchAllData" ma:web="205770a5-936c-4772-8c84-e03eb7b44e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f83135-4203-4769-b93c-639af2b361b8">
      <Terms xmlns="http://schemas.microsoft.com/office/infopath/2007/PartnerControls"/>
    </lcf76f155ced4ddcb4097134ff3c332f>
    <TaxCatchAll xmlns="205770a5-936c-4772-8c84-e03eb7b44e46" xsi:nil="true"/>
    <Summary xmlns="3bf83135-4203-4769-b93c-639af2b361b8" xsi:nil="true"/>
    <DocumentType2 xmlns="3bf83135-4203-4769-b93c-639af2b361b8" xsi:nil="true"/>
    <DocumentTypr xmlns="3bf83135-4203-4769-b93c-639af2b361b8" xsi:nil="true"/>
  </documentManagement>
</p:properties>
</file>

<file path=customXml/itemProps1.xml><?xml version="1.0" encoding="utf-8"?>
<ds:datastoreItem xmlns:ds="http://schemas.openxmlformats.org/officeDocument/2006/customXml" ds:itemID="{89938AD5-DF6A-4EE3-B1D4-8D96E3BFF161}">
  <ds:schemaRefs>
    <ds:schemaRef ds:uri="205770a5-936c-4772-8c84-e03eb7b44e46"/>
    <ds:schemaRef ds:uri="3bf83135-4203-4769-b93c-639af2b36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59A4870-776D-420B-A100-C9D1778E7E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ECE35B-C09A-4FD0-8E45-27D70E6DD18B}">
  <ds:schemaRefs>
    <ds:schemaRef ds:uri="http://purl.org/dc/dcmitype/"/>
    <ds:schemaRef ds:uri="205770a5-936c-4772-8c84-e03eb7b44e46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bf83135-4203-4769-b93c-639af2b361b8"/>
    <ds:schemaRef ds:uri="http://www.w3.org/XML/1998/namespace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3e861d16-48b7-4a0e-9806-8c04d81b7b2a}" enabled="0" method="" siteId="{3e861d16-48b7-4a0e-9806-8c04d81b7b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8835</TotalTime>
  <Words>885</Words>
  <Application>Microsoft Office PowerPoint</Application>
  <PresentationFormat>Widescreen</PresentationFormat>
  <Paragraphs>159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Courier New</vt:lpstr>
      <vt:lpstr>Office 2013 - 2022 Theme</vt:lpstr>
      <vt:lpstr>think-cell Slide</vt:lpstr>
      <vt:lpstr>PowerPoint Presentation</vt:lpstr>
      <vt:lpstr>Problem &amp; Motivation</vt:lpstr>
      <vt:lpstr>How Kiro Solves Problems</vt:lpstr>
      <vt:lpstr>Turning Business Intent into Production-Ready Software</vt:lpstr>
      <vt:lpstr>What’s In It For Me?</vt:lpstr>
      <vt:lpstr>Business Value &amp; Outcomes</vt:lpstr>
      <vt:lpstr>Sample App Architecture:  System of Two Microservice Apps</vt:lpstr>
      <vt:lpstr>Design Process</vt:lpstr>
      <vt:lpstr>Kiro’s Steering files</vt:lpstr>
      <vt:lpstr>Kiro’s Steering customized for Commonwealth</vt:lpstr>
      <vt:lpstr>Progress on UX so far</vt:lpstr>
      <vt:lpstr>Progress so far</vt:lpstr>
      <vt:lpstr>Thank you!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Cantrell, Susan (EHS)</dc:creator>
  <cp:lastModifiedBy>Hogan, John D (EHS)</cp:lastModifiedBy>
  <cp:revision>9</cp:revision>
  <dcterms:created xsi:type="dcterms:W3CDTF">2023-08-30T15:09:12Z</dcterms:created>
  <dcterms:modified xsi:type="dcterms:W3CDTF">2026-06-24T20:15:09Z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0x0101001DF057FC68AFD74FBB050BF9A24A083F</vt:lpwstr>
  </property>
  <property fmtid="{D5CDD505-2E9C-101B-9397-08002B2CF9AE}" pid="3" name="MediaServiceImageTags">
    <vt:lpwstr/>
  </property>
</Properties>
</file>