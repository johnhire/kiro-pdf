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notesMasterIdLst>
    <p:notesMasterId r:id="rId11"/>
  </p:notesMasterIdLst>
  <p:sldIdLst>
    <p:sldId id="256" r:id="rId5"/>
    <p:sldId id="270" r:id="rId6"/>
    <p:sldId id="2147483640" r:id="rId7"/>
    <p:sldId id="2147483642" r:id="rId8"/>
    <p:sldId id="265" r:id="rId9"/>
    <p:sldId id="214748363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D02E959-144A-48F2-9E36-10D307B61523}">
          <p14:sldIdLst>
            <p14:sldId id="256"/>
            <p14:sldId id="270"/>
            <p14:sldId id="2147483640"/>
            <p14:sldId id="2147483642"/>
            <p14:sldId id="265"/>
            <p14:sldId id="21474836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9170617-30EE-17B3-6E40-1CE4ECD60A9A}" name="Mor, Kyla (EHS)" initials="MK" userId="S::kyla.mor@mass.gov::c64c4427-ce6d-410d-b15e-9e6c0e6da7f0" providerId="AD"/>
  <p188:author id="{758006CB-9F0A-0159-1280-10F608B65395}" name="Brown, Maura B (EHS)" initials="MB" userId="S::Maura.B.Brown@mass.gov::efb52370-babc-4a45-8d1a-c3c99e0985c4" providerId="AD"/>
  <p188:author id="{DB208FD8-144A-0E3D-0830-BD7DBCF9E4E7}" name="Mor, Kyla (EHS)" initials="KM" userId="S::Kyla.Mor@mass.gov::c64c4427-ce6d-410d-b15e-9e6c0e6da7f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6969"/>
    <a:srgbClr val="092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21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4723B-46BC-473E-9E7D-EF21D333958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96B86-A8E2-4C09-BC19-F217575BE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09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0FCE4-25AE-6E35-4F48-2061440AC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521BB7-D527-2848-70DA-A1CA8774B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B29B26-9C98-7845-DF51-BB41490505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4463C-21BF-79F8-A608-B48F26A17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96B86-A8E2-4C09-BC19-F217575BE6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939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E37DA-8B86-38F0-5882-1EED1A7FF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206212-E444-6DBC-1494-1E353059A1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4F83CF-2210-D8F6-66A0-2645D6F83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These have accumulated significant technical debt.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Objective: </a:t>
            </a:r>
            <a:r>
              <a:rPr lang="en-US" sz="2400" dirty="0">
                <a:solidFill>
                  <a:srgbClr val="000000"/>
                </a:solidFill>
              </a:rPr>
              <a:t>Can an AI-driven IDEs like Kiro produce readable, usable, bug-free code throughout the entire SDLC?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 AI Period 4Find out if Kiro can: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Ease our maintenance burden for existing catalog of applications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Speed up software development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Help us with upgrades, vulnerability remediation and new feature development.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2B017-5650-4735-F324-E8F9C3FD23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96B86-A8E2-4C09-BC19-F217575BE6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237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0C131-F293-4EB9-A0BD-D856FA5E5E02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812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217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0C131-F293-4EB9-A0BD-D856FA5E5E02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074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816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74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47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0C131-F293-4EB9-A0BD-D856FA5E5E02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207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978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439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4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0C131-F293-4EB9-A0BD-D856FA5E5E02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90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327921-899C-1548-1446-08625D95D8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0480" y="0"/>
            <a:ext cx="12252960" cy="3459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3979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4451"/>
            <a:ext cx="10515600" cy="48625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EA0C131-F293-4EB9-A0BD-D856FA5E5E02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96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25880"/>
            <a:ext cx="5181600" cy="48510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25880"/>
            <a:ext cx="5181600" cy="48510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EA0C131-F293-4EB9-A0BD-D856FA5E5E02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0255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30397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127885"/>
            <a:ext cx="5157787" cy="393001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30397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127885"/>
            <a:ext cx="5183188" cy="393001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EA0C131-F293-4EB9-A0BD-D856FA5E5E02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79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EA0C131-F293-4EB9-A0BD-D856FA5E5E02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6311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314451"/>
            <a:ext cx="6172200" cy="454660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314450"/>
            <a:ext cx="3932237" cy="4554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EA0C131-F293-4EB9-A0BD-D856FA5E5E02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906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200151"/>
            <a:ext cx="6172200" cy="466090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208088"/>
            <a:ext cx="3932237" cy="46609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EA0C131-F293-4EB9-A0BD-D856FA5E5E02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0590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EA0C131-F293-4EB9-A0BD-D856FA5E5E02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726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11667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1900" b="1" i="0" baseline="0">
              <a:latin typeface="Arial"/>
              <a:ea typeface="+mj-ea"/>
              <a:cs typeface="Arial"/>
              <a:sym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812800" y="1143001"/>
            <a:ext cx="10566400" cy="1200329"/>
          </a:xfrm>
        </p:spPr>
        <p:txBody>
          <a:bodyPr wrap="square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236126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Object 2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8" name="Object 27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11667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1900" b="1" i="0" baseline="0">
              <a:latin typeface="Arial"/>
              <a:ea typeface="+mj-ea"/>
              <a:cs typeface="Arial"/>
              <a:sym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648" y="237744"/>
            <a:ext cx="11655552" cy="2923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371600"/>
            <a:ext cx="2316480" cy="99060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algn="ctr">
              <a:defRPr baseline="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04800" y="2565400"/>
            <a:ext cx="2316480" cy="99060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algn="ctr">
              <a:defRPr baseline="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04800" y="3759200"/>
            <a:ext cx="2316480" cy="99060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algn="ctr">
              <a:defRPr baseline="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4953000"/>
            <a:ext cx="2316480" cy="99060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algn="ctr">
              <a:defRPr baseline="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5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3048000" y="944434"/>
            <a:ext cx="1009251" cy="338554"/>
          </a:xfrm>
        </p:spPr>
        <p:txBody>
          <a:bodyPr wrap="square" lIns="91440" tIns="45720" rIns="91440" bIns="45720" anchor="t" anchorCtr="0"/>
          <a:lstStyle>
            <a:lvl1pPr>
              <a:defRPr baseline="0"/>
            </a:lvl1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6248400" y="944434"/>
            <a:ext cx="1009251" cy="338554"/>
          </a:xfrm>
        </p:spPr>
        <p:txBody>
          <a:bodyPr wrap="square" lIns="91440" tIns="45720" rIns="91440" bIns="45720" anchor="t" anchorCtr="0"/>
          <a:lstStyle>
            <a:lvl1pPr>
              <a:defRPr baseline="0"/>
            </a:lvl1pPr>
          </a:lstStyle>
          <a:p>
            <a:pPr lvl="0"/>
            <a:r>
              <a:rPr lang="en-US"/>
              <a:t>Item 2</a:t>
            </a:r>
          </a:p>
        </p:txBody>
      </p:sp>
      <p:sp>
        <p:nvSpPr>
          <p:cNvPr id="27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9448800" y="944434"/>
            <a:ext cx="1009251" cy="338554"/>
          </a:xfrm>
        </p:spPr>
        <p:txBody>
          <a:bodyPr wrap="square" lIns="91440" tIns="45720" rIns="91440" bIns="45720" anchor="t" anchorCtr="0"/>
          <a:lstStyle>
            <a:lvl1pPr>
              <a:defRPr baseline="0"/>
            </a:lvl1pPr>
          </a:lstStyle>
          <a:p>
            <a:pPr lvl="0"/>
            <a:r>
              <a:rPr lang="en-US"/>
              <a:t>Item 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3454400" y="1752601"/>
            <a:ext cx="3869008" cy="1323439"/>
          </a:xfrm>
        </p:spPr>
        <p:txBody>
          <a:bodyPr wrap="square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064061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6348642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11667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1900" b="1" i="0" baseline="0">
              <a:latin typeface="Arial"/>
              <a:ea typeface="+mj-ea"/>
              <a:cs typeface="Arial"/>
              <a:sym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812800" y="1143001"/>
            <a:ext cx="10566400" cy="1200329"/>
          </a:xfrm>
        </p:spPr>
        <p:txBody>
          <a:bodyPr wrap="square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23612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0FC5AF-6659-B8B7-0BF2-AE4C3A846C18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76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167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64" r:id="rId14"/>
    <p:sldLayoutId id="2147483665" r:id="rId15"/>
    <p:sldLayoutId id="2147483666" r:id="rId16"/>
    <p:sldLayoutId id="2147483668" r:id="rId17"/>
    <p:sldLayoutId id="2147483669" r:id="rId18"/>
    <p:sldLayoutId id="2147483670" r:id="rId19"/>
    <p:sldLayoutId id="2147483711" r:id="rId20"/>
    <p:sldLayoutId id="2147483712" r:id="rId21"/>
    <p:sldLayoutId id="2147483687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39A6185-02FA-4B04-BC2F-BACB697BDB42}"/>
              </a:ext>
            </a:extLst>
          </p:cNvPr>
          <p:cNvSpPr txBox="1">
            <a:spLocks/>
          </p:cNvSpPr>
          <p:nvPr/>
        </p:nvSpPr>
        <p:spPr>
          <a:xfrm>
            <a:off x="3577947" y="4112272"/>
            <a:ext cx="5803014" cy="2113987"/>
          </a:xfrm>
          <a:prstGeom prst="rect">
            <a:avLst/>
          </a:prstGeom>
        </p:spPr>
        <p:txBody>
          <a:bodyPr lIns="91440" tIns="45720" rIns="91440" bIns="45720"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92F6D"/>
                </a:solidFill>
                <a:latin typeface="+mn-lt"/>
              </a:rPr>
              <a:t>EOHHS AI Pilot Program Phase 4</a:t>
            </a:r>
          </a:p>
          <a:p>
            <a:pPr algn="ctr"/>
            <a:r>
              <a:rPr lang="en-US" sz="4000" b="1" dirty="0">
                <a:solidFill>
                  <a:srgbClr val="092F6D"/>
                </a:solidFill>
                <a:latin typeface="+mn-lt"/>
              </a:rPr>
              <a:t>AI Software Development Using AWS Kiro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3772F72-FA95-43E4-9237-6504D7720FA7}"/>
              </a:ext>
            </a:extLst>
          </p:cNvPr>
          <p:cNvSpPr txBox="1">
            <a:spLocks/>
          </p:cNvSpPr>
          <p:nvPr/>
        </p:nvSpPr>
        <p:spPr>
          <a:xfrm>
            <a:off x="6469924" y="5795572"/>
            <a:ext cx="5223510" cy="835024"/>
          </a:xfrm>
          <a:prstGeom prst="rect">
            <a:avLst/>
          </a:prstGeom>
        </p:spPr>
        <p:txBody>
          <a:bodyPr lIns="91440" tIns="45720" rIns="91440" bIns="45720"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dirty="0">
                <a:solidFill>
                  <a:srgbClr val="092F6D"/>
                </a:solidFill>
                <a:latin typeface="+mn-lt"/>
              </a:rPr>
              <a:t>2026-06-11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355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DEF31-B403-8057-227E-50E15E70F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5B603F-88F2-82E5-BF16-5967EE44D7D1}"/>
              </a:ext>
            </a:extLst>
          </p:cNvPr>
          <p:cNvSpPr txBox="1"/>
          <p:nvPr/>
        </p:nvSpPr>
        <p:spPr>
          <a:xfrm>
            <a:off x="408373" y="1202923"/>
            <a:ext cx="1072422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Team/Role:</a:t>
            </a:r>
          </a:p>
          <a:p>
            <a:endParaRPr lang="en-US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b="1" dirty="0"/>
              <a:t>John Hogan:</a:t>
            </a:r>
            <a:r>
              <a:rPr lang="en-US" sz="3600" dirty="0"/>
              <a:t>  </a:t>
            </a:r>
          </a:p>
          <a:p>
            <a:pPr lvl="2"/>
            <a:r>
              <a:rPr lang="en-US" sz="3600" dirty="0"/>
              <a:t>Developer/Architect EHS-Enterprise Architecture Team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b="1" dirty="0"/>
              <a:t>Anand Geetey: </a:t>
            </a:r>
            <a:r>
              <a:rPr lang="en-US" sz="3600" dirty="0"/>
              <a:t> </a:t>
            </a:r>
          </a:p>
          <a:p>
            <a:pPr lvl="2"/>
            <a:r>
              <a:rPr lang="en-US" sz="3600" dirty="0"/>
              <a:t>User Interface Designer/Architect EHS-Enterprise Architecture Team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E0721B9-A04E-1371-1956-68914BE21825}"/>
              </a:ext>
            </a:extLst>
          </p:cNvPr>
          <p:cNvSpPr txBox="1">
            <a:spLocks/>
          </p:cNvSpPr>
          <p:nvPr/>
        </p:nvSpPr>
        <p:spPr>
          <a:xfrm>
            <a:off x="398231" y="-29581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bg1"/>
                </a:solidFill>
                <a:latin typeface="+mn-lt"/>
              </a:rPr>
              <a:t>AI Powered Software Development Using AWS Kiro</a:t>
            </a:r>
          </a:p>
        </p:txBody>
      </p:sp>
    </p:spTree>
    <p:extLst>
      <p:ext uri="{BB962C8B-B14F-4D97-AF65-F5344CB8AC3E}">
        <p14:creationId xmlns:p14="http://schemas.microsoft.com/office/powerpoint/2010/main" val="369751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CDC7E-1CA1-C81C-C47F-D1346B005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329AE-2A8E-1140-0C26-24BFA4490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295" y="-24254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+mn-lt"/>
              </a:rPr>
              <a:t>Problem &amp; Motivation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6CDFC3-737D-B37D-1CD1-7F5B4AB480F0}"/>
              </a:ext>
            </a:extLst>
          </p:cNvPr>
          <p:cNvSpPr txBox="1"/>
          <p:nvPr/>
        </p:nvSpPr>
        <p:spPr>
          <a:xfrm>
            <a:off x="390618" y="945470"/>
            <a:ext cx="11292396" cy="557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Problem</a:t>
            </a:r>
            <a:endParaRPr lang="en-US" sz="3200" dirty="0"/>
          </a:p>
          <a:p>
            <a:pPr lvl="1"/>
            <a:endParaRPr lang="en-US" sz="10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Traditional software development is slow, expensive and error prone.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EOHHS has 10s or 100s of apps representing a significant burden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dirty="0"/>
              <a:t>version upgrades, 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dirty="0"/>
              <a:t>security vulnerabilities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dirty="0"/>
              <a:t>New apps and features</a:t>
            </a:r>
            <a:endParaRPr lang="en-US" sz="2400" dirty="0"/>
          </a:p>
          <a:p>
            <a:pPr lvl="1"/>
            <a:endParaRPr lang="en-US" sz="1050" dirty="0"/>
          </a:p>
          <a:p>
            <a:r>
              <a:rPr lang="en-US" sz="3200" b="1" dirty="0"/>
              <a:t>Motivation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Leverage the EOHHS AI Pilot Phase 4 to determine how AI tools like Kiro might help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dirty="0"/>
              <a:t>AI Period 4 - Workstream Item:  AI-Powered Coding Environments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dirty="0"/>
              <a:t>We selected AWS’s new Kiro IDE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dirty="0"/>
              <a:t>Would evaluate Kiro doing a fictitious project</a:t>
            </a:r>
          </a:p>
          <a:p>
            <a:pPr marL="1828800" lvl="3" indent="-457200">
              <a:buFont typeface="Courier New" panose="02070309020205020404" pitchFamily="49" charset="0"/>
              <a:buChar char="o"/>
            </a:pPr>
            <a:r>
              <a:rPr lang="en-US" dirty="0"/>
              <a:t>A generic PDF doc generation microservices project.  </a:t>
            </a:r>
          </a:p>
          <a:p>
            <a:pPr marL="1828800" lvl="3" indent="-457200">
              <a:buFont typeface="Courier New" panose="02070309020205020404" pitchFamily="49" charset="0"/>
              <a:buChar char="o"/>
            </a:pPr>
            <a:r>
              <a:rPr lang="en-US" dirty="0"/>
              <a:t>A pdf manger backend microservice and pdf administrator user interface.  The backend features restful web services to maintain document templates and documents generated from these templates.</a:t>
            </a: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14681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3EA33C6-C814-0989-44AA-59340FCBC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295" y="-242546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Generic PDF doc gen (</a:t>
            </a:r>
            <a:r>
              <a:rPr lang="en-US" sz="2800" b="1" dirty="0" err="1">
                <a:solidFill>
                  <a:schemeClr val="bg1"/>
                </a:solidFill>
              </a:rPr>
              <a:t>pdfMan</a:t>
            </a:r>
            <a:r>
              <a:rPr lang="en-US" sz="2800" b="1" dirty="0">
                <a:solidFill>
                  <a:schemeClr val="bg1"/>
                </a:solidFill>
              </a:rPr>
              <a:t> and PdfAdministrator)</a:t>
            </a:r>
            <a:endParaRPr lang="en-US" sz="28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73D0C4-4623-DBBA-165A-70CE2C5BC078}"/>
              </a:ext>
            </a:extLst>
          </p:cNvPr>
          <p:cNvSpPr txBox="1">
            <a:spLocks/>
          </p:cNvSpPr>
          <p:nvPr/>
        </p:nvSpPr>
        <p:spPr>
          <a:xfrm>
            <a:off x="754817" y="228907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chemeClr val="bg1"/>
                </a:solidFill>
                <a:latin typeface="+mn-lt"/>
              </a:rPr>
              <a:t>AI Powered Software Development Using AWS Kiro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D1445D-C884-2200-898C-09EB10EAD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396" y="815885"/>
            <a:ext cx="8100147" cy="5962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882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A93AD-FC85-6D39-4D0E-173841909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9DDD7E1-49CE-0796-3C36-0040BD4E7280}"/>
              </a:ext>
            </a:extLst>
          </p:cNvPr>
          <p:cNvSpPr txBox="1">
            <a:spLocks/>
          </p:cNvSpPr>
          <p:nvPr/>
        </p:nvSpPr>
        <p:spPr>
          <a:xfrm>
            <a:off x="236737" y="-297"/>
            <a:ext cx="6956821" cy="777537"/>
          </a:xfrm>
          <a:prstGeom prst="rect">
            <a:avLst/>
          </a:prstGeom>
        </p:spPr>
        <p:txBody>
          <a:bodyPr lIns="91440" tIns="45720" rIns="91440" bIns="45720"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AI-Powered Coding Environments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DC87F3B-751B-A5A4-23D2-13DE7D943D4B}"/>
              </a:ext>
            </a:extLst>
          </p:cNvPr>
          <p:cNvGraphicFramePr>
            <a:graphicFrameLocks noGrp="1"/>
          </p:cNvGraphicFramePr>
          <p:nvPr/>
        </p:nvGraphicFramePr>
        <p:xfrm>
          <a:off x="6169980" y="1035728"/>
          <a:ext cx="5643098" cy="1082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21184">
                  <a:extLst>
                    <a:ext uri="{9D8B030D-6E8A-4147-A177-3AD203B41FA5}">
                      <a16:colId xmlns:a16="http://schemas.microsoft.com/office/drawing/2014/main" val="4068284743"/>
                    </a:ext>
                  </a:extLst>
                </a:gridCol>
                <a:gridCol w="2931605">
                  <a:extLst>
                    <a:ext uri="{9D8B030D-6E8A-4147-A177-3AD203B41FA5}">
                      <a16:colId xmlns:a16="http://schemas.microsoft.com/office/drawing/2014/main" val="2974575421"/>
                    </a:ext>
                  </a:extLst>
                </a:gridCol>
                <a:gridCol w="1890309">
                  <a:extLst>
                    <a:ext uri="{9D8B030D-6E8A-4147-A177-3AD203B41FA5}">
                      <a16:colId xmlns:a16="http://schemas.microsoft.com/office/drawing/2014/main" val="1599957081"/>
                    </a:ext>
                  </a:extLst>
                </a:gridCol>
              </a:tblGrid>
              <a:tr h="250424">
                <a:tc>
                  <a:txBody>
                    <a:bodyPr/>
                    <a:lstStyle/>
                    <a:p>
                      <a:r>
                        <a:rPr lang="en-US" sz="1700"/>
                        <a:t>Theme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700"/>
                        <a:t>Team Members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2731"/>
                  </a:ext>
                </a:extLst>
              </a:tr>
              <a:tr h="60629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 b="0" i="0" u="none" strike="noStrike" noProof="0">
                          <a:latin typeface="Calibri"/>
                        </a:rPr>
                        <a:t>AI Technology Proof of Concept </a:t>
                      </a: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</a:rPr>
                        <a:t>Can an AI-driven IDE like Kiro produce readable, usable, bug-free code throughout the entire SDLC?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u="none" strike="noStrike" noProof="0">
                          <a:solidFill>
                            <a:srgbClr val="000000"/>
                          </a:solidFill>
                        </a:rPr>
                        <a:t>John Hogan (lead), technical SME TBD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20200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13FD06D-036F-770D-7D15-7694A02C5695}"/>
              </a:ext>
            </a:extLst>
          </p:cNvPr>
          <p:cNvGraphicFramePr>
            <a:graphicFrameLocks noGrp="1"/>
          </p:cNvGraphicFramePr>
          <p:nvPr/>
        </p:nvGraphicFramePr>
        <p:xfrm>
          <a:off x="236737" y="1035727"/>
          <a:ext cx="5620574" cy="136418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54363">
                  <a:extLst>
                    <a:ext uri="{9D8B030D-6E8A-4147-A177-3AD203B41FA5}">
                      <a16:colId xmlns:a16="http://schemas.microsoft.com/office/drawing/2014/main" val="4068284743"/>
                    </a:ext>
                  </a:extLst>
                </a:gridCol>
                <a:gridCol w="4766211">
                  <a:extLst>
                    <a:ext uri="{9D8B030D-6E8A-4147-A177-3AD203B41FA5}">
                      <a16:colId xmlns:a16="http://schemas.microsoft.com/office/drawing/2014/main" val="2974575421"/>
                    </a:ext>
                  </a:extLst>
                </a:gridCol>
              </a:tblGrid>
              <a:tr h="34030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700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700"/>
                        <a:t>Summary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2731"/>
                  </a:ext>
                </a:extLst>
              </a:tr>
              <a:tr h="101366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Green</a:t>
                      </a:r>
                    </a:p>
                    <a:p>
                      <a:pPr lvl="0">
                        <a:buNone/>
                      </a:pPr>
                      <a:r>
                        <a:rPr lang="en-US" sz="1800" b="1">
                          <a:highlight>
                            <a:srgbClr val="FFFF00"/>
                          </a:highlight>
                        </a:rPr>
                        <a:t>Yellow</a:t>
                      </a:r>
                    </a:p>
                    <a:p>
                      <a:pPr lvl="0">
                        <a:buNone/>
                      </a:pPr>
                      <a:r>
                        <a:rPr lang="en-US" sz="1800" b="1">
                          <a:highlight>
                            <a:srgbClr val="FF0000"/>
                          </a:highlight>
                        </a:rPr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Describe the current state of the workstream in 1-2 sentences.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20200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F504168-1CC0-B848-C6FC-C7D0FFAA4D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860786"/>
              </p:ext>
            </p:extLst>
          </p:nvPr>
        </p:nvGraphicFramePr>
        <p:xfrm>
          <a:off x="236737" y="2531228"/>
          <a:ext cx="5622672" cy="34899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76854">
                  <a:extLst>
                    <a:ext uri="{9D8B030D-6E8A-4147-A177-3AD203B41FA5}">
                      <a16:colId xmlns:a16="http://schemas.microsoft.com/office/drawing/2014/main" val="4068284743"/>
                    </a:ext>
                  </a:extLst>
                </a:gridCol>
                <a:gridCol w="1212111">
                  <a:extLst>
                    <a:ext uri="{9D8B030D-6E8A-4147-A177-3AD203B41FA5}">
                      <a16:colId xmlns:a16="http://schemas.microsoft.com/office/drawing/2014/main" val="725317838"/>
                    </a:ext>
                  </a:extLst>
                </a:gridCol>
                <a:gridCol w="833756">
                  <a:extLst>
                    <a:ext uri="{9D8B030D-6E8A-4147-A177-3AD203B41FA5}">
                      <a16:colId xmlns:a16="http://schemas.microsoft.com/office/drawing/2014/main" val="2974575421"/>
                    </a:ext>
                  </a:extLst>
                </a:gridCol>
                <a:gridCol w="1399951">
                  <a:extLst>
                    <a:ext uri="{9D8B030D-6E8A-4147-A177-3AD203B41FA5}">
                      <a16:colId xmlns:a16="http://schemas.microsoft.com/office/drawing/2014/main" val="14428202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700"/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700"/>
                        <a:t>Due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700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70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2731"/>
                  </a:ext>
                </a:extLst>
              </a:tr>
              <a:tr h="152585">
                <a:tc>
                  <a:txBody>
                    <a:bodyPr/>
                    <a:lstStyle/>
                    <a:p>
                      <a:r>
                        <a:rPr lang="en-US" sz="1050"/>
                        <a:t>Successful Micro-Services  (MS) Architecture Implemented.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Calibri"/>
                        </a:rPr>
                        <a:t>Green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800"/>
                        <a:t>Fully operational microservices system with independently scalable services and </a:t>
                      </a:r>
                      <a:r>
                        <a:rPr lang="en-US" sz="800" err="1"/>
                        <a:t>postgres</a:t>
                      </a:r>
                      <a:r>
                        <a:rPr lang="en-US" sz="800"/>
                        <a:t> database deployed.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202003"/>
                  </a:ext>
                </a:extLst>
              </a:tr>
              <a:tr h="152585">
                <a:tc>
                  <a:txBody>
                    <a:bodyPr/>
                    <a:lstStyle/>
                    <a:p>
                      <a:r>
                        <a:rPr lang="en-US" sz="1050"/>
                        <a:t>User Interface MS delivered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+mn-lt"/>
                        </a:rPr>
                        <a:t>Green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highlight>
                          <a:srgbClr val="00FF00"/>
                        </a:highlight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/>
                        <a:t>User interface adhering to State Of Massachusetts compliant design guide lines.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474"/>
                  </a:ext>
                </a:extLst>
              </a:tr>
              <a:tr h="152585">
                <a:tc>
                  <a:txBody>
                    <a:bodyPr/>
                    <a:lstStyle/>
                    <a:p>
                      <a:r>
                        <a:rPr lang="en-US" sz="1050"/>
                        <a:t>Restful services layer delivered.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+mn-lt"/>
                        </a:rPr>
                        <a:t>Green</a:t>
                      </a:r>
                      <a:endParaRPr lang="en-US" sz="140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/>
                        <a:t>User interface with State Of Massuchusett complient guide lines.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309127"/>
                  </a:ext>
                </a:extLst>
              </a:tr>
              <a:tr h="152585">
                <a:tc>
                  <a:txBody>
                    <a:bodyPr/>
                    <a:lstStyle/>
                    <a:p>
                      <a:r>
                        <a:rPr lang="en-US" sz="1050"/>
                        <a:t>Comprehensive Test Suite delivered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0" u="none" strike="noStrike" noProof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+mn-lt"/>
                        </a:rPr>
                        <a:t>Green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800"/>
                        <a:t>100% coverage with passing unit and integraton across all components.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2146355"/>
                  </a:ext>
                </a:extLst>
              </a:tr>
              <a:tr h="19926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End to system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+mn-lt"/>
                        </a:rPr>
                        <a:t>Green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800"/>
                        <a:t>All MS successfully communicating with high reliability and performance.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670236"/>
                  </a:ext>
                </a:extLst>
              </a:tr>
              <a:tr h="15258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Deploy system to AWS ECS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+mn-lt"/>
                        </a:rPr>
                        <a:t>Yellow</a:t>
                      </a:r>
                      <a:endParaRPr lang="en-US" sz="140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800"/>
                        <a:t>Stretch goal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517214"/>
                  </a:ext>
                </a:extLst>
              </a:tr>
              <a:tr h="15258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Integrate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+mn-lt"/>
                        </a:rPr>
                        <a:t>Yellow</a:t>
                      </a:r>
                      <a:endParaRPr lang="en-US" sz="140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800" dirty="0"/>
                        <a:t>Stretch goal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819031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753BF21-1292-DDAE-CB21-0065397321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797076"/>
              </p:ext>
            </p:extLst>
          </p:nvPr>
        </p:nvGraphicFramePr>
        <p:xfrm>
          <a:off x="6243642" y="5084400"/>
          <a:ext cx="5622849" cy="12954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22690">
                  <a:extLst>
                    <a:ext uri="{9D8B030D-6E8A-4147-A177-3AD203B41FA5}">
                      <a16:colId xmlns:a16="http://schemas.microsoft.com/office/drawing/2014/main" val="4068284743"/>
                    </a:ext>
                  </a:extLst>
                </a:gridCol>
                <a:gridCol w="1010891">
                  <a:extLst>
                    <a:ext uri="{9D8B030D-6E8A-4147-A177-3AD203B41FA5}">
                      <a16:colId xmlns:a16="http://schemas.microsoft.com/office/drawing/2014/main" val="2974575421"/>
                    </a:ext>
                  </a:extLst>
                </a:gridCol>
                <a:gridCol w="2689268">
                  <a:extLst>
                    <a:ext uri="{9D8B030D-6E8A-4147-A177-3AD203B41FA5}">
                      <a16:colId xmlns:a16="http://schemas.microsoft.com/office/drawing/2014/main" val="14428202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700"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700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70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2731"/>
                  </a:ext>
                </a:extLst>
              </a:tr>
              <a:tr h="152585">
                <a:tc>
                  <a:txBody>
                    <a:bodyPr/>
                    <a:lstStyle/>
                    <a:p>
                      <a:r>
                        <a:rPr lang="en-US" sz="1400"/>
                        <a:t>Kiro licensing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Calibri"/>
                        </a:rPr>
                        <a:t>Green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800"/>
                        <a:t>Eval license was insufficient.  AI Team Management addressed with AWS.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202003"/>
                  </a:ext>
                </a:extLst>
              </a:tr>
              <a:tr h="152585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alibri"/>
                        </a:rPr>
                        <a:t>Yellow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474"/>
                  </a:ext>
                </a:extLst>
              </a:tr>
              <a:tr h="152585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highlight>
                            <a:srgbClr val="FF0000"/>
                          </a:highlight>
                          <a:latin typeface="Calibri"/>
                        </a:rPr>
                        <a:t>Red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309127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1733E66-A32E-2397-F342-9A12D2B024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055091"/>
              </p:ext>
            </p:extLst>
          </p:nvPr>
        </p:nvGraphicFramePr>
        <p:xfrm>
          <a:off x="6184776" y="2552329"/>
          <a:ext cx="5614328" cy="226737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614328">
                  <a:extLst>
                    <a:ext uri="{9D8B030D-6E8A-4147-A177-3AD203B41FA5}">
                      <a16:colId xmlns:a16="http://schemas.microsoft.com/office/drawing/2014/main" val="4068284743"/>
                    </a:ext>
                  </a:extLst>
                </a:gridCol>
              </a:tblGrid>
              <a:tr h="3846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700"/>
                        <a:t>Status Detail + 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2731"/>
                  </a:ext>
                </a:extLst>
              </a:tr>
              <a:tr h="1882680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400"/>
                        <a:t>Complete MS system deploys with two microservices and relational database!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400"/>
                        <a:t>Collaborated with EHS-Enterprise-Architecture Team’s UI architect (Anand Geetey) to incorporate State Of Massachusetts design in front end MS.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400"/>
                        <a:t>Zero defects currently with complete test coverage to verify.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202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0523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D9B1F-C496-5F0F-412F-7657A2E35CE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18823" y="2766218"/>
            <a:ext cx="9754354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600" b="1">
                <a:latin typeface="+mn-lt"/>
              </a:rPr>
              <a:t>Thank you!  </a:t>
            </a:r>
            <a:br>
              <a:rPr lang="en-US" sz="6600" b="1">
                <a:latin typeface="+mn-lt"/>
              </a:rPr>
            </a:br>
            <a:r>
              <a:rPr lang="en-US" sz="6600" b="1">
                <a:latin typeface="+mn-lt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4902718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F_gv.pZbm2Rgq6p__oA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cblEEfJJRA3Z_qO1pXby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F_gv.pZbm2Rgq6p__oAQ"/>
</p:tagLst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F057FC68AFD74FBB050BF9A24A083F" ma:contentTypeVersion="22" ma:contentTypeDescription="Create a new document." ma:contentTypeScope="" ma:versionID="2c02e7e5245c5b6f03180a50d5a6552e">
  <xsd:schema xmlns:xsd="http://www.w3.org/2001/XMLSchema" xmlns:xs="http://www.w3.org/2001/XMLSchema" xmlns:p="http://schemas.microsoft.com/office/2006/metadata/properties" xmlns:ns2="3bf83135-4203-4769-b93c-639af2b361b8" xmlns:ns3="205770a5-936c-4772-8c84-e03eb7b44e46" targetNamespace="http://schemas.microsoft.com/office/2006/metadata/properties" ma:root="true" ma:fieldsID="0c4e81202358d33be29038d79d4821a9" ns2:_="" ns3:_="">
    <xsd:import namespace="3bf83135-4203-4769-b93c-639af2b361b8"/>
    <xsd:import namespace="205770a5-936c-4772-8c84-e03eb7b44e46"/>
    <xsd:element name="properties">
      <xsd:complexType>
        <xsd:sequence>
          <xsd:element name="documentManagement">
            <xsd:complexType>
              <xsd:all>
                <xsd:element ref="ns2:Summary" minOccurs="0"/>
                <xsd:element ref="ns2:DocumentType2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DocumentTyp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83135-4203-4769-b93c-639af2b361b8" elementFormDefault="qualified">
    <xsd:import namespace="http://schemas.microsoft.com/office/2006/documentManagement/types"/>
    <xsd:import namespace="http://schemas.microsoft.com/office/infopath/2007/PartnerControls"/>
    <xsd:element name="Summary" ma:index="2" nillable="true" ma:displayName="Summary" ma:format="Dropdown" ma:internalName="Summary" ma:readOnly="false">
      <xsd:simpleType>
        <xsd:restriction base="dms:Text">
          <xsd:maxLength value="255"/>
        </xsd:restriction>
      </xsd:simpleType>
    </xsd:element>
    <xsd:element name="DocumentType2" ma:index="4" nillable="true" ma:displayName="Document Type" ma:format="Dropdown" ma:internalName="DocumentType2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Policy"/>
                        <xsd:enumeration value="Training"/>
                        <xsd:enumeration value="Template"/>
                        <xsd:enumeration value="Project Management"/>
                        <xsd:enumeration value="Communication"/>
                        <xsd:enumeration value="Education"/>
                        <xsd:enumeration value="Resource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9f123c60-6d59-4beb-a46f-4c7d903a1f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23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  <xsd:element name="DocumentTypr" ma:index="25" nillable="true" ma:displayName="Document Type (Old Don't Use)" ma:format="Dropdown" ma:hidden="true" ma:internalName="DocumentTypr" ma:readOnly="false">
      <xsd:simpleType>
        <xsd:union memberTypes="dms:Text">
          <xsd:simpleType>
            <xsd:restriction base="dms:Choice">
              <xsd:enumeration value="Policy"/>
              <xsd:enumeration value="Choice 2"/>
              <xsd:enumeration value="Choice 3"/>
            </xsd:restriction>
          </xsd:simpleType>
        </xsd:un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5770a5-936c-4772-8c84-e03eb7b44e4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hidden="true" ma:internalName="SharedWithDetails" ma:readOnly="true">
      <xsd:simpleType>
        <xsd:restriction base="dms:Note"/>
      </xsd:simpleType>
    </xsd:element>
    <xsd:element name="TaxCatchAll" ma:index="21" nillable="true" ma:displayName="Taxonomy Catch All Column" ma:hidden="true" ma:list="{32101c32-cd8d-40ba-aedc-8a9af165d728}" ma:internalName="TaxCatchAll" ma:readOnly="false" ma:showField="CatchAllData" ma:web="205770a5-936c-4772-8c84-e03eb7b44e4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bf83135-4203-4769-b93c-639af2b361b8">
      <Terms xmlns="http://schemas.microsoft.com/office/infopath/2007/PartnerControls"/>
    </lcf76f155ced4ddcb4097134ff3c332f>
    <TaxCatchAll xmlns="205770a5-936c-4772-8c84-e03eb7b44e46" xsi:nil="true"/>
    <Summary xmlns="3bf83135-4203-4769-b93c-639af2b361b8" xsi:nil="true"/>
    <DocumentType2 xmlns="3bf83135-4203-4769-b93c-639af2b361b8" xsi:nil="true"/>
    <DocumentTypr xmlns="3bf83135-4203-4769-b93c-639af2b361b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938AD5-DF6A-4EE3-B1D4-8D96E3BFF161}">
  <ds:schemaRefs>
    <ds:schemaRef ds:uri="205770a5-936c-4772-8c84-e03eb7b44e46"/>
    <ds:schemaRef ds:uri="3bf83135-4203-4769-b93c-639af2b361b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2ECE35B-C09A-4FD0-8E45-27D70E6DD18B}">
  <ds:schemaRefs>
    <ds:schemaRef ds:uri="http://purl.org/dc/dcmitype/"/>
    <ds:schemaRef ds:uri="205770a5-936c-4772-8c84-e03eb7b44e46"/>
    <ds:schemaRef ds:uri="http://purl.org/dc/elements/1.1/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3bf83135-4203-4769-b93c-639af2b361b8"/>
    <ds:schemaRef ds:uri="http://www.w3.org/XML/1998/namespace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A59A4870-776D-420B-A100-C9D1778E7E1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e861d16-48b7-4a0e-9806-8c04d81b7b2a}" enabled="0" method="" siteId="{3e861d16-48b7-4a0e-9806-8c04d81b7b2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7001</TotalTime>
  <Words>466</Words>
  <Application>Microsoft Office PowerPoint</Application>
  <PresentationFormat>Widescreen</PresentationFormat>
  <Paragraphs>88</Paragraphs>
  <Slides>6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Courier New</vt:lpstr>
      <vt:lpstr>Office 2013 - 2022 Theme</vt:lpstr>
      <vt:lpstr>think-cell Slide</vt:lpstr>
      <vt:lpstr>PowerPoint Presentation</vt:lpstr>
      <vt:lpstr>PowerPoint Presentation</vt:lpstr>
      <vt:lpstr>Problem &amp; Motivation</vt:lpstr>
      <vt:lpstr>Generic PDF doc gen (pdfMan and PdfAdministrator)</vt:lpstr>
      <vt:lpstr>PowerPoint Presentation</vt:lpstr>
      <vt:lpstr>Thank you!   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Cantrell, Susan (EHS)</dc:creator>
  <cp:lastModifiedBy>Hogan, John D (EHS)</cp:lastModifiedBy>
  <cp:revision>3</cp:revision>
  <dcterms:created xsi:type="dcterms:W3CDTF">2023-08-30T15:09:12Z</dcterms:created>
  <dcterms:modified xsi:type="dcterms:W3CDTF">2026-06-22T12:52:13Z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0x0101001DF057FC68AFD74FBB050BF9A24A083F</vt:lpwstr>
  </property>
  <property fmtid="{D5CDD505-2E9C-101B-9397-08002B2CF9AE}" pid="3" name="MediaServiceImageTags">
    <vt:lpwstr/>
  </property>
</Properties>
</file>